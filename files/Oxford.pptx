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9"/>
  </p:notesMasterIdLst>
  <p:sldIdLst>
    <p:sldId id="256" r:id="rId2"/>
    <p:sldId id="340" r:id="rId3"/>
    <p:sldId id="341" r:id="rId4"/>
    <p:sldId id="257" r:id="rId5"/>
    <p:sldId id="258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300" r:id="rId18"/>
    <p:sldId id="285" r:id="rId19"/>
    <p:sldId id="259" r:id="rId20"/>
    <p:sldId id="336" r:id="rId21"/>
    <p:sldId id="303" r:id="rId22"/>
    <p:sldId id="347" r:id="rId23"/>
    <p:sldId id="348" r:id="rId24"/>
    <p:sldId id="349" r:id="rId25"/>
    <p:sldId id="350" r:id="rId26"/>
    <p:sldId id="304" r:id="rId27"/>
    <p:sldId id="305" r:id="rId28"/>
    <p:sldId id="306" r:id="rId29"/>
    <p:sldId id="352" r:id="rId30"/>
    <p:sldId id="353" r:id="rId31"/>
    <p:sldId id="354" r:id="rId32"/>
    <p:sldId id="345" r:id="rId33"/>
    <p:sldId id="302" r:id="rId34"/>
    <p:sldId id="351" r:id="rId35"/>
    <p:sldId id="297" r:id="rId36"/>
    <p:sldId id="308" r:id="rId37"/>
    <p:sldId id="355" r:id="rId38"/>
    <p:sldId id="356" r:id="rId39"/>
    <p:sldId id="357" r:id="rId40"/>
    <p:sldId id="337" r:id="rId41"/>
    <p:sldId id="311" r:id="rId42"/>
    <p:sldId id="312" r:id="rId43"/>
    <p:sldId id="358" r:id="rId44"/>
    <p:sldId id="359" r:id="rId45"/>
    <p:sldId id="360" r:id="rId46"/>
    <p:sldId id="361" r:id="rId47"/>
    <p:sldId id="362" r:id="rId48"/>
    <p:sldId id="364" r:id="rId49"/>
    <p:sldId id="309" r:id="rId50"/>
    <p:sldId id="298" r:id="rId51"/>
    <p:sldId id="317" r:id="rId52"/>
    <p:sldId id="321" r:id="rId53"/>
    <p:sldId id="322" r:id="rId54"/>
    <p:sldId id="335" r:id="rId55"/>
    <p:sldId id="326" r:id="rId56"/>
    <p:sldId id="318" r:id="rId57"/>
    <p:sldId id="331" r:id="rId58"/>
    <p:sldId id="363" r:id="rId59"/>
    <p:sldId id="332" r:id="rId60"/>
    <p:sldId id="327" r:id="rId61"/>
    <p:sldId id="342" r:id="rId62"/>
    <p:sldId id="346" r:id="rId63"/>
    <p:sldId id="343" r:id="rId64"/>
    <p:sldId id="344" r:id="rId65"/>
    <p:sldId id="325" r:id="rId66"/>
    <p:sldId id="339" r:id="rId67"/>
    <p:sldId id="262" r:id="rId68"/>
  </p:sldIdLst>
  <p:sldSz cx="9144000" cy="5143500" type="screen16x9"/>
  <p:notesSz cx="6858000" cy="9144000"/>
  <p:embeddedFontLst>
    <p:embeddedFont>
      <p:font typeface="Amazon Ember" panose="020B0603020204020204" pitchFamily="34" charset="0"/>
      <p:regular r:id="rId70"/>
      <p:bold r:id="rId71"/>
      <p:italic r:id="rId72"/>
      <p:boldItalic r:id="rId73"/>
    </p:embeddedFont>
    <p:embeddedFont>
      <p:font typeface="Amazon Ember Light" panose="020B0403020204020204" pitchFamily="34" charset="0"/>
      <p:regular r:id="rId74"/>
      <p:italic r:id="rId75"/>
    </p:embeddedFont>
    <p:embeddedFont>
      <p:font typeface="Archivo" pitchFamily="2" charset="77"/>
      <p:regular r:id="rId76"/>
      <p:bold r:id="rId77"/>
      <p:italic r:id="rId78"/>
      <p:boldItalic r:id="rId79"/>
    </p:embeddedFont>
    <p:embeddedFont>
      <p:font typeface="Inter" panose="02000503000000020004" pitchFamily="2" charset="0"/>
      <p:regular r:id="rId80"/>
      <p:bold r:id="rId81"/>
      <p:italic r:id="rId82"/>
      <p:boldItalic r:id="rId8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D01D01-FABC-4C5D-82A6-7DACAC8256EC}">
  <a:tblStyle styleId="{02D01D01-FABC-4C5D-82A6-7DACAC8256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C7CA8A3-AE36-4F2C-BFD7-CA765290FF9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62"/>
    <p:restoredTop sz="85678"/>
  </p:normalViewPr>
  <p:slideViewPr>
    <p:cSldViewPr snapToGrid="0">
      <p:cViewPr varScale="1">
        <p:scale>
          <a:sx n="97" d="100"/>
          <a:sy n="97" d="100"/>
        </p:scale>
        <p:origin x="20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5.fntdata"/><Relationship Id="rId79" Type="http://schemas.openxmlformats.org/officeDocument/2006/relationships/font" Target="fonts/font10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77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3.fntdata"/><Relationship Id="rId80" Type="http://schemas.openxmlformats.org/officeDocument/2006/relationships/font" Target="fonts/font11.fntdata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1.fntdata"/><Relationship Id="rId75" Type="http://schemas.openxmlformats.org/officeDocument/2006/relationships/font" Target="fonts/font6.fntdata"/><Relationship Id="rId83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4.fntdata"/><Relationship Id="rId78" Type="http://schemas.openxmlformats.org/officeDocument/2006/relationships/font" Target="fonts/font9.fntdata"/><Relationship Id="rId81" Type="http://schemas.openxmlformats.org/officeDocument/2006/relationships/font" Target="fonts/font12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d1a0ecab1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d1a0ecab1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C671187-13A4-7F33-3A3C-816EF812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0178BC40-5F00-1152-3420-E0BC9E02C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F58B7576-38DF-1C0C-20B9-5BFFB600F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9134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72CF954-9756-0206-6466-A8C9D54E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BADA8EE1-0F15-79C6-F85A-86CF88D25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6E410754-CDFB-79B8-E1DE-177C86277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3464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d1a0ecab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d1a0ecab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5227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3430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5419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514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562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643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3385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6029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4292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26539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a0ecab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a0ecab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8442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82569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bdddd851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bdddd851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d1a0ecab1_1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d1a0ecab1_1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52484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7358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6D27062-19AC-D5A2-B106-A45385EC6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2CB59D84-A431-535C-249A-89A6660D9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47CFCA74-E311-EA05-7B7F-B79B906BDD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66078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AAFB7788-0E9F-1810-EA4B-C43522A2E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1296A026-B024-30E1-0945-E1E01594B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AB760255-A09E-2B8C-5B1F-D0B71E32C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07605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17700C7-E0D1-E321-14F6-D9DEC3520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4819F1A3-78B5-34A2-2B3F-1E4C5497F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BC01C37B-2410-9569-892F-1752E341C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05894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B151221-66E6-E83C-5278-0C56AD408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7388618C-B87E-9A67-2260-47EF61CDAA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FC2DCA5E-AEA5-3A85-EB5E-FF0A8D5CEE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42961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80341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151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32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59811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7E38F04-D211-A33C-2D2B-932AA071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5DC5D1C0-F2F3-8A7B-8535-70F8DFFF0B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BFAE9ACE-F057-AAE4-D018-33BA3AB89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32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795910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240EEE9-9004-F381-F125-D8791FEF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8C10BC1F-9593-931F-820A-CE47D731D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F99BA06F-8E8C-15D6-2E45-311D14D0B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32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596424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A15DE5D-73BD-540B-A12F-AAB37A567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EB0529D3-DFC3-5516-25D5-7CA4E0117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D9F7D15F-FD7D-FDDE-C385-7C4D65B14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32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61250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E99C82C7-7AA6-F7CA-258F-079D043D1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d1a0ecab1_1_0:notes">
            <a:extLst>
              <a:ext uri="{FF2B5EF4-FFF2-40B4-BE49-F238E27FC236}">
                <a16:creationId xmlns:a16="http://schemas.microsoft.com/office/drawing/2014/main" id="{00E517C8-7881-92CF-F476-950BB5E63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d1a0ecab1_1_0:notes">
            <a:extLst>
              <a:ext uri="{FF2B5EF4-FFF2-40B4-BE49-F238E27FC236}">
                <a16:creationId xmlns:a16="http://schemas.microsoft.com/office/drawing/2014/main" id="{93EA2175-30DF-CF34-3ACE-06887397E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83087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38744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EBEB89F-355E-DB28-A09F-FECF0B0E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8A00DFB2-0B9D-D31C-50EA-EA96EEBCE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C49B28AB-12C2-7C93-16AC-A942E0029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87187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d1a0ecab1_1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d1a0ecab1_1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39102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81687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D09727E-221B-0CB6-8958-E7E189DD2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A174A7AE-8FAE-9893-6C4A-C4ED3A46A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EE53D968-16D5-6587-CF57-78670DB3E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56775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853F5DF-59FB-B6AE-4DE6-1E25C6D1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8B1E09B3-E29E-ADD1-F080-28C06B8CB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34F0ABBB-46E9-E400-1DC4-F0E8B7B1E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45862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424A474-2E61-A693-1EDF-F2AEC561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A66EC3EE-D637-28C8-F6AB-3062000C45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79506743-9763-AE1D-0E8D-94030B96D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49580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224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7606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390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AF0B366-9BB7-99C1-AD5A-1BDAAD48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DBB07630-0D19-1B22-1DF3-9710EDD7CC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BA588650-9569-7051-7D27-2EC792C64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4048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C4AAD89-96CF-FE06-F18A-96AEDD3B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EEFF740A-A9EF-78FC-36F0-108BA406B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97E6DB77-2C4A-0487-9318-774E40633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891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543D4B5-C4ED-FDE9-8EB2-22CCECC04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4B3D2EA5-A04B-5551-F47B-23DE77ECD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DCC9CD3E-1FF4-ADD5-CD6E-4231FE926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8781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7716B38-7AA4-0008-A34B-6AB4DA4D5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FF690E4C-349A-97F6-0CF1-4D768EC428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2B3DA6B1-221C-D1A3-A204-816C8CDDC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6599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FADB9A1-EEC1-3802-24B1-B2418B28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DAC78232-E1AF-3965-3494-4FDD8071A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2AFE5479-36C8-82C2-9871-256B9528C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1704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13613F6-5673-7A5C-3060-F1EF9B470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57E08E3F-B2E5-0178-59FE-8F2A1E5A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871CA2F2-C6DE-58CD-582B-85BA34A0C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7333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63574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d1a0ecab1_1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d1a0ecab1_1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74440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19146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8629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72911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17783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d1a0ecab1_1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d1a0ecab1_1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55666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15696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68750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4E3DDDC-871E-D9ED-960D-C5B48B1D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EB239065-0880-1712-0ACA-14A4FBEDE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E78A652D-724B-55F8-27AF-40FE2169E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9368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4736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796646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4CAA92A-A82A-7560-C848-85EFD24B8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22231BCA-1A69-DB95-5AC6-21E15A19D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34529C7D-DB6E-8929-08E1-DF6EBC1687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72497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70811C7-1073-2069-E6E0-B135B261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11AAE03F-F13A-A316-834E-DD9BC3B503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7D2E79BD-BF49-9199-5B50-03BD1D32B2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856179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9BFEBE0-4862-CACA-362A-A60767A6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BA360E92-3881-AF87-78EA-466B379D4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4E144513-D4C6-F930-1F0E-D13E69C2A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3103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2C365D7-00EC-6BCD-9EB6-CAC1D395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>
            <a:extLst>
              <a:ext uri="{FF2B5EF4-FFF2-40B4-BE49-F238E27FC236}">
                <a16:creationId xmlns:a16="http://schemas.microsoft.com/office/drawing/2014/main" id="{5DB3D240-567C-2929-870B-6F513F765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>
            <a:extLst>
              <a:ext uri="{FF2B5EF4-FFF2-40B4-BE49-F238E27FC236}">
                <a16:creationId xmlns:a16="http://schemas.microsoft.com/office/drawing/2014/main" id="{70D06F6D-940D-8CBB-D198-183876B077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592015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206551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1a0ecab1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1a0ecab1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162523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55bfac81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f55bfac81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ithub.com/cedar-policy/cedar-spec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cedarpolicy.com/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hyperlink" Target="https://aws.amazon.com/blogs/opensource/lean-into-verified-software-development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png"/><Relationship Id="rId5" Type="http://schemas.openxmlformats.org/officeDocument/2006/relationships/hyperlink" Target="https://www.amazon.science/blog/how-the-lean-language-brings-math-to-coding-and-coding-to-math" TargetMode="External"/><Relationship Id="rId4" Type="http://schemas.openxmlformats.org/officeDocument/2006/relationships/hyperlink" Target="https://reservoir.lean-lang.org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ai.meta.com/blog/ai-math-theorem-proving/" TargetMode="External"/><Relationship Id="rId5" Type="http://schemas.openxmlformats.org/officeDocument/2006/relationships/hyperlink" Target="https://openai.com/index/formal-math/" TargetMode="External"/><Relationship Id="rId4" Type="http://schemas.openxmlformats.org/officeDocument/2006/relationships/hyperlink" Target="https://leandojo.org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KuxFWwwlEtc?start=1&amp;feature=oembed" TargetMode="External"/><Relationship Id="rId6" Type="http://schemas.openxmlformats.org/officeDocument/2006/relationships/image" Target="../media/image39.jpeg"/><Relationship Id="rId5" Type="http://schemas.openxmlformats.org/officeDocument/2006/relationships/hyperlink" Target="https://github.com/kim-em/lean-training-data" TargetMode="External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hyperlink" Target="https://www.convergentresearch.org/about-fros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hyperlink" Target="https://lean-fro.org/about/roadmap-y2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5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hyperlink" Target="https://reservoir.lean-lang.org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github.com/ImperialCollegeLondon/FLT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github.com/leanprover/KLR" TargetMode="External"/><Relationship Id="rId5" Type="http://schemas.openxmlformats.org/officeDocument/2006/relationships/hyperlink" Target="https://leanprover.zulipchat.com/" TargetMode="External"/><Relationship Id="rId4" Type="http://schemas.openxmlformats.org/officeDocument/2006/relationships/hyperlink" Target="http://github.com/leanprover-community/mathlib4" TargetMode="External"/><Relationship Id="rId9" Type="http://schemas.openxmlformats.org/officeDocument/2006/relationships/hyperlink" Target="http://live.lean-lang.org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6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25" y="1751300"/>
            <a:ext cx="9144000" cy="3392100"/>
          </a:xfrm>
          <a:prstGeom prst="rect">
            <a:avLst/>
          </a:prstGeom>
          <a:solidFill>
            <a:srgbClr val="007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64" y="313324"/>
            <a:ext cx="3177475" cy="116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86247" y="2297597"/>
            <a:ext cx="7626830" cy="121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Formalizing the Future: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Lean’s Impact on Mathematics, Programming, and AI</a:t>
            </a:r>
            <a:br>
              <a:rPr lang="en-US" sz="2850" dirty="0">
                <a:solidFill>
                  <a:schemeClr val="lt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</a:br>
            <a:endParaRPr sz="2700" dirty="0">
              <a:solidFill>
                <a:schemeClr val="lt1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86247" y="4209267"/>
            <a:ext cx="356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May 6, 2025</a:t>
            </a:r>
            <a:endParaRPr sz="1300" dirty="0">
              <a:solidFill>
                <a:srgbClr val="FFFFFF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073E60B2-22B5-9907-BB9D-F28E79EA3C18}"/>
              </a:ext>
            </a:extLst>
          </p:cNvPr>
          <p:cNvSpPr txBox="1"/>
          <p:nvPr/>
        </p:nvSpPr>
        <p:spPr>
          <a:xfrm>
            <a:off x="278713" y="3402834"/>
            <a:ext cx="3563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Leo de Moura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Senior Principal Applied Scientist, AWS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Chief Architect, Lean FRO</a:t>
            </a:r>
            <a:endParaRPr sz="1300" dirty="0">
              <a:solidFill>
                <a:srgbClr val="FFFFFF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034BDF86-AE3A-C66C-5A20-49DBE0C41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8349CB43-75E5-2F17-F407-33B1ADFD7804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8E55D180-E1A2-D54A-E582-D8BF0DD96E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7FAF32A4-3B69-D2F2-FB36-23B5D3D183D5}"/>
              </a:ext>
            </a:extLst>
          </p:cNvPr>
          <p:cNvSpPr txBox="1"/>
          <p:nvPr/>
        </p:nvSpPr>
        <p:spPr>
          <a:xfrm>
            <a:off x="250450" y="822850"/>
            <a:ext cx="889355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Breaking the Cycle of Uncertainty:  Math, Software, and AI You Can Trust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u="none" strike="noStrike" dirty="0">
                <a:solidFill>
                  <a:srgbClr val="000000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Math, software, and AI often rely on </a:t>
            </a:r>
            <a:r>
              <a:rPr lang="en-US" b="1" u="none" strike="noStrike" dirty="0">
                <a:solidFill>
                  <a:srgbClr val="000000"/>
                </a:solidFill>
                <a:effectLst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manual review </a:t>
            </a:r>
            <a:r>
              <a:rPr lang="en-US" u="none" strike="noStrike" dirty="0">
                <a:solidFill>
                  <a:srgbClr val="000000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or </a:t>
            </a:r>
            <a:r>
              <a:rPr lang="en-US" b="1" u="none" strike="noStrike" dirty="0">
                <a:solidFill>
                  <a:srgbClr val="000000"/>
                </a:solidFill>
                <a:effectLst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partial testing</a:t>
            </a:r>
            <a:r>
              <a:rPr lang="en-US" u="none" strike="noStrike" dirty="0">
                <a:solidFill>
                  <a:srgbClr val="000000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An error in a theorem or critical software system can have massive consequences.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Progress dies where fear of mistakes lives.</a:t>
            </a:r>
          </a:p>
        </p:txBody>
      </p:sp>
    </p:spTree>
    <p:extLst>
      <p:ext uri="{BB962C8B-B14F-4D97-AF65-F5344CB8AC3E}">
        <p14:creationId xmlns:p14="http://schemas.microsoft.com/office/powerpoint/2010/main" val="336549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0D93C7AB-74CD-F77A-E899-6D31D75FD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A4700A2F-11C6-4C69-121D-BA5F900974C3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A213F3A8-1A82-335A-DEF0-510EA34563E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B099E67F-A0F4-B632-B6F3-52C10F89B844}"/>
              </a:ext>
            </a:extLst>
          </p:cNvPr>
          <p:cNvSpPr txBox="1"/>
          <p:nvPr/>
        </p:nvSpPr>
        <p:spPr>
          <a:xfrm>
            <a:off x="250450" y="822850"/>
            <a:ext cx="889355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Breaking the Cycle of Uncertainty:  Math, Software, and AI You Can Trust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u="none" strike="noStrike" dirty="0">
                <a:solidFill>
                  <a:srgbClr val="000000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Math, software, and AI often rely on </a:t>
            </a:r>
            <a:r>
              <a:rPr lang="en-US" b="1" u="none" strike="noStrike" dirty="0">
                <a:solidFill>
                  <a:srgbClr val="000000"/>
                </a:solidFill>
                <a:effectLst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manual review </a:t>
            </a:r>
            <a:r>
              <a:rPr lang="en-US" u="none" strike="noStrike" dirty="0">
                <a:solidFill>
                  <a:srgbClr val="000000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or </a:t>
            </a:r>
            <a:r>
              <a:rPr lang="en-US" b="1" u="none" strike="noStrike" dirty="0">
                <a:solidFill>
                  <a:srgbClr val="000000"/>
                </a:solidFill>
                <a:effectLst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partial testing</a:t>
            </a:r>
            <a:r>
              <a:rPr lang="en-US" u="none" strike="noStrike" dirty="0">
                <a:solidFill>
                  <a:srgbClr val="000000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An error in a theorem or critical software system can have massive consequences.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Progress dies where fear of mistakes lives</a:t>
            </a:r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Lean: </a:t>
            </a:r>
            <a:r>
              <a:rPr lang="en-US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machine-checkable proofs eliminate guesswork and create trust</a:t>
            </a:r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If every step is formally verified, we unlock unprecedented confidence and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85789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4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250450" y="822850"/>
            <a:ext cx="7843200" cy="3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Aft>
                <a:spcPts val="240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 is an open-source programming language and proof assistant that is transforming how we approach mathematics, software verification, and AI.</a:t>
            </a:r>
          </a:p>
          <a:p>
            <a:pPr marL="0" lvl="0" indent="0" algn="l" rtl="0">
              <a:lnSpc>
                <a:spcPct val="115000"/>
              </a:lnSpc>
              <a:spcAft>
                <a:spcPts val="240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 Lean project, started in 2013, aimed at merging interactive and automated theorem proving.</a:t>
            </a:r>
          </a:p>
          <a:p>
            <a:pPr marL="0" lvl="0" indent="0" algn="l" rtl="0">
              <a:lnSpc>
                <a:spcPct val="115000"/>
              </a:lnSpc>
              <a:spcAft>
                <a:spcPts val="240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 provides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machine-checkable proofs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Aft>
                <a:spcPts val="240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 addresses the “trust bottleneck”.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opens up new possibilities for collaboration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  <a:endParaRPr lang="en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 small example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DA5608-58BE-3254-8BCA-3B7465060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49" y="1529297"/>
            <a:ext cx="8391501" cy="21949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 small example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DA5608-58BE-3254-8BCA-3B7465060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49" y="1529297"/>
            <a:ext cx="8391501" cy="2194906"/>
          </a:xfrm>
          <a:prstGeom prst="rect">
            <a:avLst/>
          </a:prstGeom>
        </p:spPr>
      </p:pic>
      <p:sp>
        <p:nvSpPr>
          <p:cNvPr id="3" name="Line Callout 1 2">
            <a:extLst>
              <a:ext uri="{FF2B5EF4-FFF2-40B4-BE49-F238E27FC236}">
                <a16:creationId xmlns:a16="http://schemas.microsoft.com/office/drawing/2014/main" id="{F56CD5AB-CE59-7BB3-F50C-1BD63A357613}"/>
              </a:ext>
            </a:extLst>
          </p:cNvPr>
          <p:cNvSpPr/>
          <p:nvPr/>
        </p:nvSpPr>
        <p:spPr>
          <a:xfrm>
            <a:off x="4790359" y="707397"/>
            <a:ext cx="3597183" cy="368755"/>
          </a:xfrm>
          <a:prstGeom prst="borderCallout1">
            <a:avLst>
              <a:gd name="adj1" fmla="val 51449"/>
              <a:gd name="adj2" fmla="val -1070"/>
              <a:gd name="adj3" fmla="val 348345"/>
              <a:gd name="adj4" fmla="val -91055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Mathlib</a:t>
            </a: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is the Lean Mathematical library</a:t>
            </a:r>
          </a:p>
        </p:txBody>
      </p:sp>
    </p:spTree>
    <p:extLst>
      <p:ext uri="{BB962C8B-B14F-4D97-AF65-F5344CB8AC3E}">
        <p14:creationId xmlns:p14="http://schemas.microsoft.com/office/powerpoint/2010/main" val="1376207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 small example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DA5608-58BE-3254-8BCA-3B7465060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49" y="1529297"/>
            <a:ext cx="8391501" cy="2194906"/>
          </a:xfrm>
          <a:prstGeom prst="rect">
            <a:avLst/>
          </a:prstGeom>
        </p:spPr>
      </p:pic>
      <p:sp>
        <p:nvSpPr>
          <p:cNvPr id="3" name="Line Callout 1 2">
            <a:extLst>
              <a:ext uri="{FF2B5EF4-FFF2-40B4-BE49-F238E27FC236}">
                <a16:creationId xmlns:a16="http://schemas.microsoft.com/office/drawing/2014/main" id="{F56CD5AB-CE59-7BB3-F50C-1BD63A357613}"/>
              </a:ext>
            </a:extLst>
          </p:cNvPr>
          <p:cNvSpPr/>
          <p:nvPr/>
        </p:nvSpPr>
        <p:spPr>
          <a:xfrm>
            <a:off x="2308416" y="2707019"/>
            <a:ext cx="2585131" cy="368755"/>
          </a:xfrm>
          <a:prstGeom prst="borderCallout1">
            <a:avLst>
              <a:gd name="adj1" fmla="val 51449"/>
              <a:gd name="adj2" fmla="val -1070"/>
              <a:gd name="adj3" fmla="val -74021"/>
              <a:gd name="adj4" fmla="val -40810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Definition of an odd number</a:t>
            </a:r>
          </a:p>
        </p:txBody>
      </p:sp>
    </p:spTree>
    <p:extLst>
      <p:ext uri="{BB962C8B-B14F-4D97-AF65-F5344CB8AC3E}">
        <p14:creationId xmlns:p14="http://schemas.microsoft.com/office/powerpoint/2010/main" val="1201395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AC7689-8CC9-C4DF-07A2-2F07907E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47" y="1523739"/>
            <a:ext cx="8391500" cy="2194906"/>
          </a:xfrm>
          <a:prstGeom prst="rect">
            <a:avLst/>
          </a:prstGeom>
        </p:spPr>
      </p:pic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Our first theorem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" name="Line Callout 1 4">
            <a:extLst>
              <a:ext uri="{FF2B5EF4-FFF2-40B4-BE49-F238E27FC236}">
                <a16:creationId xmlns:a16="http://schemas.microsoft.com/office/drawing/2014/main" id="{D5A2AA66-C336-B21E-8236-FF9191904490}"/>
              </a:ext>
            </a:extLst>
          </p:cNvPr>
          <p:cNvSpPr/>
          <p:nvPr/>
        </p:nvSpPr>
        <p:spPr>
          <a:xfrm>
            <a:off x="3166115" y="2931500"/>
            <a:ext cx="4003941" cy="368755"/>
          </a:xfrm>
          <a:prstGeom prst="borderCallout1">
            <a:avLst>
              <a:gd name="adj1" fmla="val 51449"/>
              <a:gd name="adj2" fmla="val -1070"/>
              <a:gd name="adj3" fmla="val -59033"/>
              <a:gd name="adj4" fmla="val -22896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Theorem statement, i.e., the claim being made</a:t>
            </a:r>
          </a:p>
        </p:txBody>
      </p:sp>
    </p:spTree>
    <p:extLst>
      <p:ext uri="{BB962C8B-B14F-4D97-AF65-F5344CB8AC3E}">
        <p14:creationId xmlns:p14="http://schemas.microsoft.com/office/powerpoint/2010/main" val="317709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D2CCB-7D15-68F1-4079-A36602886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47" y="1523739"/>
            <a:ext cx="8391500" cy="2194906"/>
          </a:xfrm>
          <a:prstGeom prst="rect">
            <a:avLst/>
          </a:prstGeom>
        </p:spPr>
      </p:pic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Our first theorem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" name="Line Callout 1 1">
            <a:extLst>
              <a:ext uri="{FF2B5EF4-FFF2-40B4-BE49-F238E27FC236}">
                <a16:creationId xmlns:a16="http://schemas.microsoft.com/office/drawing/2014/main" id="{5B95CBFD-DA56-0259-B926-8EC98F53C493}"/>
              </a:ext>
            </a:extLst>
          </p:cNvPr>
          <p:cNvSpPr/>
          <p:nvPr/>
        </p:nvSpPr>
        <p:spPr>
          <a:xfrm>
            <a:off x="1859831" y="3047056"/>
            <a:ext cx="1003950" cy="368755"/>
          </a:xfrm>
          <a:prstGeom prst="borderCallout1">
            <a:avLst>
              <a:gd name="adj1" fmla="val 51449"/>
              <a:gd name="adj2" fmla="val -1070"/>
              <a:gd name="adj3" fmla="val -50858"/>
              <a:gd name="adj4" fmla="val -51922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 proof</a:t>
            </a:r>
          </a:p>
        </p:txBody>
      </p:sp>
    </p:spTree>
    <p:extLst>
      <p:ext uri="{BB962C8B-B14F-4D97-AF65-F5344CB8AC3E}">
        <p14:creationId xmlns:p14="http://schemas.microsoft.com/office/powerpoint/2010/main" val="4249939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11DC9A-9E71-91F9-6AC6-C033875E7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46" y="1523739"/>
            <a:ext cx="8391348" cy="2194866"/>
          </a:xfrm>
          <a:prstGeom prst="rect">
            <a:avLst/>
          </a:prstGeom>
        </p:spPr>
      </p:pic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Our first theorem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" name="Line Callout 1 4">
            <a:extLst>
              <a:ext uri="{FF2B5EF4-FFF2-40B4-BE49-F238E27FC236}">
                <a16:creationId xmlns:a16="http://schemas.microsoft.com/office/drawing/2014/main" id="{33C09A41-C472-9B0E-0E11-87BAB3DF5341}"/>
              </a:ext>
            </a:extLst>
          </p:cNvPr>
          <p:cNvSpPr/>
          <p:nvPr/>
        </p:nvSpPr>
        <p:spPr>
          <a:xfrm>
            <a:off x="2181379" y="3072176"/>
            <a:ext cx="1672164" cy="368755"/>
          </a:xfrm>
          <a:prstGeom prst="borderCallout1">
            <a:avLst>
              <a:gd name="adj1" fmla="val 51449"/>
              <a:gd name="adj2" fmla="val -1070"/>
              <a:gd name="adj3" fmla="val -50858"/>
              <a:gd name="adj4" fmla="val -51922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An incorrect proof</a:t>
            </a:r>
          </a:p>
        </p:txBody>
      </p:sp>
    </p:spTree>
    <p:extLst>
      <p:ext uri="{BB962C8B-B14F-4D97-AF65-F5344CB8AC3E}">
        <p14:creationId xmlns:p14="http://schemas.microsoft.com/office/powerpoint/2010/main" val="716253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BDA69F-CCAB-F113-D889-9975B0A5C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44" y="1512623"/>
            <a:ext cx="8391425" cy="2194886"/>
          </a:xfrm>
          <a:prstGeom prst="rect">
            <a:avLst/>
          </a:prstGeom>
        </p:spPr>
      </p:pic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Theorem proving in Lean is an interactive game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" name="Line Callout 1 4">
            <a:extLst>
              <a:ext uri="{FF2B5EF4-FFF2-40B4-BE49-F238E27FC236}">
                <a16:creationId xmlns:a16="http://schemas.microsoft.com/office/drawing/2014/main" id="{33C09A41-C472-9B0E-0E11-87BAB3DF5341}"/>
              </a:ext>
            </a:extLst>
          </p:cNvPr>
          <p:cNvSpPr/>
          <p:nvPr/>
        </p:nvSpPr>
        <p:spPr>
          <a:xfrm>
            <a:off x="6361493" y="3112369"/>
            <a:ext cx="1672164" cy="368755"/>
          </a:xfrm>
          <a:prstGeom prst="borderCallout1">
            <a:avLst>
              <a:gd name="adj1" fmla="val 51449"/>
              <a:gd name="adj2" fmla="val -1070"/>
              <a:gd name="adj3" fmla="val -109444"/>
              <a:gd name="adj4" fmla="val -55828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“game board”</a:t>
            </a:r>
          </a:p>
        </p:txBody>
      </p:sp>
      <p:sp>
        <p:nvSpPr>
          <p:cNvPr id="2" name="Google Shape;95;p18">
            <a:extLst>
              <a:ext uri="{FF2B5EF4-FFF2-40B4-BE49-F238E27FC236}">
                <a16:creationId xmlns:a16="http://schemas.microsoft.com/office/drawing/2014/main" id="{869D91F7-24C6-955F-E03D-CBD36AEF0862}"/>
              </a:ext>
            </a:extLst>
          </p:cNvPr>
          <p:cNvSpPr txBox="1"/>
          <p:nvPr/>
        </p:nvSpPr>
        <p:spPr>
          <a:xfrm>
            <a:off x="376246" y="3760533"/>
            <a:ext cx="7466492" cy="96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“</a:t>
            </a:r>
            <a: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You have written my favorite computer game”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Kevin Buzzard</a:t>
            </a:r>
            <a:endParaRPr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732129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1D60FF-47AF-138E-0810-CEB6C29DE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44" y="1507065"/>
            <a:ext cx="8391424" cy="2194886"/>
          </a:xfrm>
          <a:prstGeom prst="rect">
            <a:avLst/>
          </a:prstGeom>
        </p:spPr>
      </p:pic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Theorem proving in Lean is an interactive game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" name="Line Callout 1 4">
            <a:extLst>
              <a:ext uri="{FF2B5EF4-FFF2-40B4-BE49-F238E27FC236}">
                <a16:creationId xmlns:a16="http://schemas.microsoft.com/office/drawing/2014/main" id="{33C09A41-C472-9B0E-0E11-87BAB3DF5341}"/>
              </a:ext>
            </a:extLst>
          </p:cNvPr>
          <p:cNvSpPr/>
          <p:nvPr/>
        </p:nvSpPr>
        <p:spPr>
          <a:xfrm>
            <a:off x="2020279" y="3510807"/>
            <a:ext cx="2551677" cy="368755"/>
          </a:xfrm>
          <a:prstGeom prst="borderCallout1">
            <a:avLst>
              <a:gd name="adj1" fmla="val 51449"/>
              <a:gd name="adj2" fmla="val -1070"/>
              <a:gd name="adj3" fmla="val -142143"/>
              <a:gd name="adj4" fmla="val -24835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 “game move”, aka “tactic”</a:t>
            </a:r>
          </a:p>
        </p:txBody>
      </p:sp>
    </p:spTree>
    <p:extLst>
      <p:ext uri="{BB962C8B-B14F-4D97-AF65-F5344CB8AC3E}">
        <p14:creationId xmlns:p14="http://schemas.microsoft.com/office/powerpoint/2010/main" val="700524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F6DFD6-ED2F-0B49-FB99-168117109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44" y="1507065"/>
            <a:ext cx="8391424" cy="2194886"/>
          </a:xfrm>
          <a:prstGeom prst="rect">
            <a:avLst/>
          </a:prstGeom>
        </p:spPr>
      </p:pic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Theorem proving in Lean is an interactive game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" name="Line Callout 1 4">
            <a:extLst>
              <a:ext uri="{FF2B5EF4-FFF2-40B4-BE49-F238E27FC236}">
                <a16:creationId xmlns:a16="http://schemas.microsoft.com/office/drawing/2014/main" id="{33C09A41-C472-9B0E-0E11-87BAB3DF5341}"/>
              </a:ext>
            </a:extLst>
          </p:cNvPr>
          <p:cNvSpPr/>
          <p:nvPr/>
        </p:nvSpPr>
        <p:spPr>
          <a:xfrm>
            <a:off x="1774139" y="3805715"/>
            <a:ext cx="7181175" cy="368755"/>
          </a:xfrm>
          <a:prstGeom prst="borderCallout1">
            <a:avLst>
              <a:gd name="adj1" fmla="val 51449"/>
              <a:gd name="adj2" fmla="val -1070"/>
              <a:gd name="adj3" fmla="val -178929"/>
              <a:gd name="adj4" fmla="val -6918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“game move” </a:t>
            </a:r>
            <a:r>
              <a:rPr lang="en-US" dirty="0">
                <a:latin typeface="Courier New" panose="02070309020205020404" pitchFamily="49" charset="0"/>
                <a:ea typeface="Amazon Ember" panose="020B0603020204020204" pitchFamily="34" charset="0"/>
                <a:cs typeface="Courier New" panose="02070309020205020404" pitchFamily="49" charset="0"/>
              </a:rPr>
              <a:t>simp</a:t>
            </a: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, the simplifier, is one of the most popular moves in our game</a:t>
            </a:r>
          </a:p>
        </p:txBody>
      </p:sp>
    </p:spTree>
    <p:extLst>
      <p:ext uri="{BB962C8B-B14F-4D97-AF65-F5344CB8AC3E}">
        <p14:creationId xmlns:p14="http://schemas.microsoft.com/office/powerpoint/2010/main" val="150219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C2E87-CF90-4894-CBC7-82BF234B4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43" y="1501506"/>
            <a:ext cx="8391423" cy="2194885"/>
          </a:xfrm>
          <a:prstGeom prst="rect">
            <a:avLst/>
          </a:prstGeom>
        </p:spPr>
      </p:pic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Theorem proving in Lean is an interactive game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" name="Line Callout 1 4">
            <a:extLst>
              <a:ext uri="{FF2B5EF4-FFF2-40B4-BE49-F238E27FC236}">
                <a16:creationId xmlns:a16="http://schemas.microsoft.com/office/drawing/2014/main" id="{33C09A41-C472-9B0E-0E11-87BAB3DF5341}"/>
              </a:ext>
            </a:extLst>
          </p:cNvPr>
          <p:cNvSpPr/>
          <p:nvPr/>
        </p:nvSpPr>
        <p:spPr>
          <a:xfrm>
            <a:off x="1819357" y="3919140"/>
            <a:ext cx="6948309" cy="368755"/>
          </a:xfrm>
          <a:prstGeom prst="borderCallout1">
            <a:avLst>
              <a:gd name="adj1" fmla="val 51449"/>
              <a:gd name="adj2" fmla="val -1070"/>
              <a:gd name="adj3" fmla="val -178929"/>
              <a:gd name="adj4" fmla="val -6918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“game move” </a:t>
            </a:r>
            <a:r>
              <a:rPr lang="en-US" dirty="0">
                <a:latin typeface="Courier New" panose="02070309020205020404" pitchFamily="49" charset="0"/>
                <a:ea typeface="Amazon Ember" panose="020B0603020204020204" pitchFamily="34" charset="0"/>
                <a:cs typeface="Courier New" panose="02070309020205020404" pitchFamily="49" charset="0"/>
              </a:rPr>
              <a:t>use</a:t>
            </a: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is the standard way of proving statements about </a:t>
            </a:r>
            <a:r>
              <a:rPr lang="en-US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existentials</a:t>
            </a:r>
            <a:endParaRPr lang="en-US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130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0179B0-08BA-237D-2C7C-56867AFE7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42" y="1501505"/>
            <a:ext cx="8391423" cy="2194885"/>
          </a:xfrm>
          <a:prstGeom prst="rect">
            <a:avLst/>
          </a:prstGeom>
        </p:spPr>
      </p:pic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50" y="822850"/>
            <a:ext cx="7843200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Theorem proving in Lean is an interactive game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" name="Line Callout 1 4">
            <a:extLst>
              <a:ext uri="{FF2B5EF4-FFF2-40B4-BE49-F238E27FC236}">
                <a16:creationId xmlns:a16="http://schemas.microsoft.com/office/drawing/2014/main" id="{33C09A41-C472-9B0E-0E11-87BAB3DF5341}"/>
              </a:ext>
            </a:extLst>
          </p:cNvPr>
          <p:cNvSpPr/>
          <p:nvPr/>
        </p:nvSpPr>
        <p:spPr>
          <a:xfrm>
            <a:off x="1906930" y="3868441"/>
            <a:ext cx="5945299" cy="368755"/>
          </a:xfrm>
          <a:prstGeom prst="borderCallout1">
            <a:avLst>
              <a:gd name="adj1" fmla="val 51449"/>
              <a:gd name="adj2" fmla="val -1070"/>
              <a:gd name="adj3" fmla="val -127155"/>
              <a:gd name="adj4" fmla="val -10029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We complete this level using </a:t>
            </a:r>
            <a:r>
              <a:rPr lang="en-US" dirty="0" err="1">
                <a:latin typeface="Courier New" panose="02070309020205020404" pitchFamily="49" charset="0"/>
                <a:ea typeface="Amazon Ember" panose="020B0603020204020204" pitchFamily="34" charset="0"/>
                <a:cs typeface="Courier New" panose="02070309020205020404" pitchFamily="49" charset="0"/>
              </a:rPr>
              <a:t>linarith</a:t>
            </a: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, the linear arithmetic, move</a:t>
            </a:r>
          </a:p>
        </p:txBody>
      </p:sp>
    </p:spTree>
    <p:extLst>
      <p:ext uri="{BB962C8B-B14F-4D97-AF65-F5344CB8AC3E}">
        <p14:creationId xmlns:p14="http://schemas.microsoft.com/office/powerpoint/2010/main" val="2585542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0179B0-08BA-237D-2C7C-56867AFE7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42" y="1501505"/>
            <a:ext cx="8391423" cy="2194885"/>
          </a:xfrm>
          <a:prstGeom prst="rect">
            <a:avLst/>
          </a:prstGeom>
        </p:spPr>
      </p:pic>
      <p:cxnSp>
        <p:nvCxnSpPr>
          <p:cNvPr id="71" name="Google Shape;71;p15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449" y="822850"/>
            <a:ext cx="8737801" cy="50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Theorem proving in Lean is an interactive </a:t>
            </a:r>
            <a:r>
              <a:rPr lang="en-US" sz="2200" b="1" dirty="0">
                <a:solidFill>
                  <a:srgbClr val="FF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and addictive </a:t>
            </a: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game</a:t>
            </a:r>
            <a:endParaRPr sz="1617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" name="Google Shape;95;p18">
            <a:extLst>
              <a:ext uri="{FF2B5EF4-FFF2-40B4-BE49-F238E27FC236}">
                <a16:creationId xmlns:a16="http://schemas.microsoft.com/office/drawing/2014/main" id="{15ABB30C-E281-B160-2A56-2A374AC404FC}"/>
              </a:ext>
            </a:extLst>
          </p:cNvPr>
          <p:cNvSpPr txBox="1"/>
          <p:nvPr/>
        </p:nvSpPr>
        <p:spPr>
          <a:xfrm>
            <a:off x="376242" y="3752466"/>
            <a:ext cx="7466492" cy="96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“You can do 14 hours a day in it and not get tired and feel kind of high the whole day. </a:t>
            </a:r>
            <a:b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</a:br>
            <a: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You’re constantly getting positive reinforcement”</a:t>
            </a:r>
            <a:r>
              <a:rPr lang="en-US" i="1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Amelia Livingston</a:t>
            </a:r>
          </a:p>
        </p:txBody>
      </p:sp>
    </p:spTree>
    <p:extLst>
      <p:ext uri="{BB962C8B-B14F-4D97-AF65-F5344CB8AC3E}">
        <p14:creationId xmlns:p14="http://schemas.microsoft.com/office/powerpoint/2010/main" val="2174011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808685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Mathlib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 Lean Mathematical Library supports a wide range of projects.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It is an open-source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collaborative project 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with over 500 contributors and 1.8M </a:t>
            </a:r>
            <a:r>
              <a:rPr lang="en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LoC.</a:t>
            </a:r>
            <a:endParaRPr lang="en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“I’m investing time now so that somebody in the future can have that amazing experience”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Heather Macbeth</a:t>
            </a:r>
            <a:endParaRPr lang="en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A06A60-779A-856F-E9D8-E938E7AE9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684" y="3454350"/>
            <a:ext cx="66167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11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1057143" y="1703070"/>
            <a:ext cx="1737360" cy="1737360"/>
          </a:xfrm>
          <a:prstGeom prst="ellipse">
            <a:avLst/>
          </a:prstGeom>
          <a:solidFill>
            <a:srgbClr val="0073A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Mathematics</a:t>
            </a:r>
            <a:endParaRPr dirty="0">
              <a:solidFill>
                <a:schemeClr val="lt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3654677" y="1703070"/>
            <a:ext cx="1737360" cy="1737360"/>
          </a:xfrm>
          <a:prstGeom prst="ellipse">
            <a:avLst/>
          </a:prstGeom>
          <a:solidFill>
            <a:srgbClr val="0073A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Software</a:t>
            </a:r>
            <a:endParaRPr dirty="0">
              <a:solidFill>
                <a:schemeClr val="lt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6252212" y="1703070"/>
            <a:ext cx="1737360" cy="1737360"/>
          </a:xfrm>
          <a:prstGeom prst="ellipse">
            <a:avLst/>
          </a:prstGeom>
          <a:solidFill>
            <a:srgbClr val="0073A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AI</a:t>
            </a:r>
            <a:endParaRPr dirty="0">
              <a:solidFill>
                <a:schemeClr val="lt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-20625" y="829400"/>
            <a:ext cx="9167400" cy="4311300"/>
          </a:xfrm>
          <a:prstGeom prst="rect">
            <a:avLst/>
          </a:prstGeom>
          <a:solidFill>
            <a:srgbClr val="007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9" name="Google Shape;79;p16"/>
          <p:cNvCxnSpPr>
            <a:cxnSpLocks/>
          </p:cNvCxnSpPr>
          <p:nvPr/>
        </p:nvCxnSpPr>
        <p:spPr>
          <a:xfrm rot="10800000">
            <a:off x="806700" y="342577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57927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2528675" y="2283600"/>
            <a:ext cx="3851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 SemiBold"/>
              </a:rPr>
              <a:t>Mathematics</a:t>
            </a:r>
            <a:endParaRPr sz="1600" b="1" dirty="0">
              <a:solidFill>
                <a:schemeClr val="lt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Preamble: the </a:t>
            </a:r>
            <a:r>
              <a:rPr lang="en-US" sz="22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Perfectoid</a:t>
            </a: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 Spaces Project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Kevin Buzzard, Patrick Massot, Johan </a:t>
            </a:r>
            <a:r>
              <a:rPr lang="en" i="1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Commelin</a:t>
            </a:r>
            <a:endParaRPr lang="en" i="1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Goal: Demonstrate that we can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define complex mathematical objects 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in Lean.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They translated Peter </a:t>
            </a: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Scholze's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definition into a form a computer can understand.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It not only achieved its goals but also demonstrated to the math community that </a:t>
            </a:r>
            <a:b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</a:b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formal objects can be visualized and inspected with computer assistance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Math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is now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data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that can be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processed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transformed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and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inspected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in various ways.</a:t>
            </a:r>
          </a:p>
        </p:txBody>
      </p:sp>
    </p:spTree>
    <p:extLst>
      <p:ext uri="{BB962C8B-B14F-4D97-AF65-F5344CB8AC3E}">
        <p14:creationId xmlns:p14="http://schemas.microsoft.com/office/powerpoint/2010/main" val="2958596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Preamble: the </a:t>
            </a:r>
            <a:r>
              <a:rPr lang="en-US" sz="22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Perfectoid</a:t>
            </a: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 Spaces Project (cont.)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Kevin Buzzard, Patrick Massot, Johan </a:t>
            </a:r>
            <a:r>
              <a:rPr lang="en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Commelin</a:t>
            </a:r>
            <a:endParaRPr lang="en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rgbClr val="1F232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176;p26" descr="Image">
            <a:extLst>
              <a:ext uri="{FF2B5EF4-FFF2-40B4-BE49-F238E27FC236}">
                <a16:creationId xmlns:a16="http://schemas.microsoft.com/office/drawing/2014/main" id="{74D61D89-65F3-12BD-73B6-1BA6B07738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389" y="1964452"/>
            <a:ext cx="3315164" cy="312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C2C6DF-D7F8-3391-C198-C8ADAAF27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658" y="2019648"/>
            <a:ext cx="3644900" cy="81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071E87-4022-47AF-9F43-D2788C538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658" y="2929094"/>
            <a:ext cx="46990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77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E9196900-5C8F-A648-71DD-B4033CBD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D7BE8FE7-9DA5-D412-0EF9-86BA1A55717C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0DD50562-9785-8A20-7C06-894EBE4EB0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D053A3-722C-F9A7-3D39-532FF047F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06" y="821148"/>
            <a:ext cx="8918441" cy="267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88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44F6E7B5-CCDC-3FBE-13F0-209BA4CE9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941A1949-6F4D-135D-A076-C576C4F0B404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FAE0664D-84A3-1EEE-8E55-CE4046F4F24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6331C7-B350-442E-A9C4-02C046FE5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97" y="797266"/>
            <a:ext cx="8935207" cy="268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12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81B1C150-ACE9-F37F-D6E2-8C1997381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897186BB-CF18-5DEE-95B3-0A8D5AEA285A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CBD226DC-CC92-7D08-A779-B54D4D49B76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756B96-A8E0-8DDF-3C76-16A3C31B2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2" y="775466"/>
            <a:ext cx="8906929" cy="251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33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F85B4855-3B8D-C848-0702-273310F1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D9B866BB-D3E3-66DA-A60E-80682D2A1250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600D0365-BC7E-7A94-2799-E1B130F4700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218315-62BF-53FC-FE23-0755CE7A1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07" y="702998"/>
            <a:ext cx="8859786" cy="303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282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8016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The Challenge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In November of 2020, Peter </a:t>
            </a: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Scholze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posits the Liquid Tensor Experiment (LTE) challenge.</a:t>
            </a:r>
          </a:p>
          <a:p>
            <a:pPr marL="548640" lvl="8">
              <a:lnSpc>
                <a:spcPct val="150000"/>
              </a:lnSpc>
              <a:spcBef>
                <a:spcPts val="1200"/>
              </a:spcBef>
            </a:pPr>
            <a: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“I spent much of 2019 </a:t>
            </a:r>
            <a:r>
              <a:rPr lang="en-US" b="1" dirty="0">
                <a:solidFill>
                  <a:srgbClr val="0073A3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obsessed</a:t>
            </a:r>
            <a: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with the proof of this theorem, </a:t>
            </a:r>
            <a:r>
              <a:rPr lang="en-US" b="1" dirty="0">
                <a:solidFill>
                  <a:srgbClr val="0073A3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almost getting crazy over it</a:t>
            </a:r>
            <a: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 In the end, we were able to get an argument pinned down on paper, but I think nobody else has dared to look at the details of this, and so I still have some small lingering doubts”</a:t>
            </a:r>
            <a:r>
              <a:rPr lang="en-US" i="1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</a:t>
            </a:r>
          </a:p>
          <a:p>
            <a:pPr marL="548640" lvl="8">
              <a:lnSpc>
                <a:spcPct val="150000"/>
              </a:lnSpc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Peter </a:t>
            </a: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Scholze</a:t>
            </a: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473859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The First Victory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Johan </a:t>
            </a: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Commelin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led a team with several members of the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community and announced the formalization of the crucial intermediate lemma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that </a:t>
            </a: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Scholze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was unsure about, with only minor corrections, in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May 2021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 marL="548640" lvl="8">
              <a:lnSpc>
                <a:spcPct val="150000"/>
              </a:lnSpc>
              <a:spcBef>
                <a:spcPts val="1200"/>
              </a:spcBef>
            </a:pPr>
            <a: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“[T]his was precisely the kind of oversight I was worried about when I asked for the formal verification. [...] The proof walks a fine line, so if some argument needs constants that are quite a bit different from what I claimed, it might have collapsed”</a:t>
            </a:r>
            <a:r>
              <a:rPr lang="en-US" i="1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Peter </a:t>
            </a: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Scholze</a:t>
            </a: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2" name="Google Shape;264;p3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24F714F-2EE0-7CA3-E082-8382CC6D0A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1314" y="3798698"/>
            <a:ext cx="2933814" cy="13002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7633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Achieving the Unthinkable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 full challenge was completed in July 2022.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The team not only verified the proof but also simplified it. </a:t>
            </a:r>
            <a:b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</a:b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Moreover, they did this without fully understanding the entire proof.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Johan, the project lead, reported that he could only see two steps ahead.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was a guide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 marL="548640" lvl="8">
              <a:lnSpc>
                <a:spcPct val="150000"/>
              </a:lnSpc>
              <a:spcBef>
                <a:spcPts val="1200"/>
              </a:spcBef>
            </a:pPr>
            <a: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“The Lean Proof Assistant was really that: an assistant in navigating through the thick jungle that this proof is. Really, one key problem I had when I was trying to find this proof was that I was essentially unable to keep all the objects in my RAM, and I think the same problem occurs when trying to read the proof”</a:t>
            </a:r>
            <a:r>
              <a:rPr lang="en-US" i="1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Peter </a:t>
            </a: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Scholze</a:t>
            </a: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230556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D141EFF1-A135-8FF1-687B-B512B93D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ABEF4568-21B2-2A98-58C0-5AE82E5FF1F9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D9880BE0-75E3-87E5-4C77-1743EA5C0A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C172FE46-7DAA-813C-8161-4398F7B43C0A}"/>
              </a:ext>
            </a:extLst>
          </p:cNvPr>
          <p:cNvSpPr txBox="1"/>
          <p:nvPr/>
        </p:nvSpPr>
        <p:spPr>
          <a:xfrm>
            <a:off x="171085" y="702998"/>
            <a:ext cx="8607172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Automating Quantum Algebra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Here is a concrete example from quantum algebra. It comes from a classification result involving quantum SO(3) categories. Specifically, the condition that certain relations among trivalent graphs imply a constraint on the parameters d, t, and c: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From: “Categories generated by a trivalent vertex”, Morrison, Peters, and Snyder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9C6187-5FCB-82B1-FCFF-2E6C5C8E1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11" y="2154821"/>
            <a:ext cx="7772400" cy="16367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7E5A2B-0B84-F0BD-63F7-6E1C10882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954" y="3849932"/>
            <a:ext cx="1568761" cy="11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73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9A2334F2-81C5-1C6D-35F1-05DB2BAF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9D524593-1BF6-2750-9295-F0556DE9CF4B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9E87EA30-1AEA-93DE-59B7-AA33EFDEE1C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E10FE425-3BB7-D7EC-33AE-81D0D80C7C1C}"/>
              </a:ext>
            </a:extLst>
          </p:cNvPr>
          <p:cNvSpPr txBox="1"/>
          <p:nvPr/>
        </p:nvSpPr>
        <p:spPr>
          <a:xfrm>
            <a:off x="171085" y="702998"/>
            <a:ext cx="8607172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Automating Quantum Algebra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1200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This is not a toy: it encodes a real algebraic constraint derived from relations among diagrams in a pivotal tensor category. 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can handle this kind of reasoning automatically, in </a:t>
            </a:r>
            <a:r>
              <a:rPr lang="en-US" b="1" dirty="0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milliseconds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45809F-B4D1-BE3D-5B39-DC6BD5FAD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43" y="1293568"/>
            <a:ext cx="7772400" cy="163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561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B937264C-7A81-0B55-FA39-FB8968A1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99DC80C2-07A3-4854-B032-4387E2C13354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F41F7FA2-17EA-4C40-6856-13BA0859F6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E52059BD-6AB8-4F44-22EE-AC378C8AEE2B}"/>
              </a:ext>
            </a:extLst>
          </p:cNvPr>
          <p:cNvSpPr txBox="1"/>
          <p:nvPr/>
        </p:nvSpPr>
        <p:spPr>
          <a:xfrm>
            <a:off x="171085" y="702998"/>
            <a:ext cx="8607172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Automating Quantum Algebra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We can explore new mathematical and physical structures, from topological quantum fields theories to fusion categories.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 is helping researchers reason reliably about complex symbolic systems that were previously handled only by hand or with unverified computer algebra.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Courier New" panose="02070309020205020404" pitchFamily="49" charset="0"/>
                <a:ea typeface="Amazon Ember" panose="020B0603020204020204" pitchFamily="34" charset="0"/>
                <a:cs typeface="Courier New" panose="02070309020205020404" pitchFamily="49" charset="0"/>
                <a:sym typeface="Inter"/>
              </a:rPr>
              <a:t>grind +ring</a:t>
            </a:r>
            <a:r>
              <a:rPr lang="en-US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is just another move in our interactive game.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50763-CC1B-862F-4337-1A37D2E62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93" y="3102305"/>
            <a:ext cx="7772400" cy="152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70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49521960-1B8E-615F-C712-A1B4DEBF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4">
            <a:extLst>
              <a:ext uri="{FF2B5EF4-FFF2-40B4-BE49-F238E27FC236}">
                <a16:creationId xmlns:a16="http://schemas.microsoft.com/office/drawing/2014/main" id="{246913EC-CB5E-4CBB-BA28-987FECC3D02F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" name="Google Shape;65;p14">
            <a:extLst>
              <a:ext uri="{FF2B5EF4-FFF2-40B4-BE49-F238E27FC236}">
                <a16:creationId xmlns:a16="http://schemas.microsoft.com/office/drawing/2014/main" id="{CB0BD545-FEFA-34F6-0140-826BF146AC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507A3CFA-342F-6F31-716E-688880EA8F4A}"/>
              </a:ext>
            </a:extLst>
          </p:cNvPr>
          <p:cNvSpPr txBox="1"/>
          <p:nvPr/>
        </p:nvSpPr>
        <p:spPr>
          <a:xfrm>
            <a:off x="250450" y="822850"/>
            <a:ext cx="7843200" cy="3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Should we trust Lean?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 has a small trusted proof checker.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Do I need to trust the checker?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No,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you can export your proof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and use external checkers. There are checkers implemented in C/C++, Rust, Lean, etc.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You can implement your own checker.</a:t>
            </a:r>
          </a:p>
        </p:txBody>
      </p:sp>
    </p:spTree>
    <p:extLst>
      <p:ext uri="{BB962C8B-B14F-4D97-AF65-F5344CB8AC3E}">
        <p14:creationId xmlns:p14="http://schemas.microsoft.com/office/powerpoint/2010/main" val="2418326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What did we learn?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Machine-checkable proofs enable a new level of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collaboration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in mathematics.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 power of the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community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We don’t need to trust our automation/moves.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It is not just about proving but also understanding complex objects and proofs, getting new insights, and navigating through the “thick jungles” that are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beyond our cognitive abilities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9618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C3B54EED-9FB8-D677-BAED-63DEFF70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8307E83E-CEC9-1C89-F184-43F0E5FACC9C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50524EA5-3801-A2A1-F7BF-E7BF33F8072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75EFDE1D-5CA5-ADD7-86FF-F39053F308FA}"/>
              </a:ext>
            </a:extLst>
          </p:cNvPr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What did we learn?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Another unexpected benefit of formal mathematics: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auto refactoring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and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generalization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FB1228E-4167-D8E7-1E99-433C218527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" t="19368" r="1444" b="28069"/>
          <a:stretch/>
        </p:blipFill>
        <p:spPr bwMode="auto">
          <a:xfrm>
            <a:off x="171085" y="2067664"/>
            <a:ext cx="8722465" cy="2222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998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-20625" y="829400"/>
            <a:ext cx="9167400" cy="4311300"/>
          </a:xfrm>
          <a:prstGeom prst="rect">
            <a:avLst/>
          </a:prstGeom>
          <a:solidFill>
            <a:srgbClr val="007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9" name="Google Shape;79;p16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2416629" y="2283600"/>
            <a:ext cx="4107542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 SemiBold"/>
              </a:rPr>
              <a:t>Software</a:t>
            </a:r>
            <a:endParaRPr sz="1600" b="1" dirty="0">
              <a:solidFill>
                <a:schemeClr val="lt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9189747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in Software Verification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 is a programming language, and is used in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many soft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w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are verification projects</a:t>
            </a:r>
            <a:r>
              <a:rPr lang="en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You can write code and reason about it simultaneously.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You can prove that your code has the properties you expect.</a:t>
            </a:r>
          </a:p>
          <a:p>
            <a:pPr marL="548640">
              <a:lnSpc>
                <a:spcPct val="115000"/>
              </a:lnSpc>
              <a:spcBef>
                <a:spcPts val="1200"/>
              </a:spcBef>
            </a:pPr>
            <a:r>
              <a:rPr lang="en-US" i="1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“Testing can show the presence of bugs, but not their absence”</a:t>
            </a:r>
            <a:r>
              <a:rPr lang="en-US" i="1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E. Dijkstra</a:t>
            </a:r>
          </a:p>
        </p:txBody>
      </p:sp>
    </p:spTree>
    <p:extLst>
      <p:ext uri="{BB962C8B-B14F-4D97-AF65-F5344CB8AC3E}">
        <p14:creationId xmlns:p14="http://schemas.microsoft.com/office/powerpoint/2010/main" val="16869436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8C62E90A-09BA-EDD0-EAC1-0F99B664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6ADEF045-7D3C-C806-F8A1-7DCAEA348A26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A4393BD7-EAAA-0D16-6516-C98C2CE607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3DEFE99D-31DC-AAFD-4F66-1B7DD207324F}"/>
              </a:ext>
            </a:extLst>
          </p:cNvPr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Cedar</a:t>
            </a: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EBFE84CE-A948-5E4B-6CAC-216CC357E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363"/>
          <a:stretch/>
        </p:blipFill>
        <p:spPr bwMode="auto">
          <a:xfrm>
            <a:off x="469900" y="3824882"/>
            <a:ext cx="8204200" cy="131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17562EB8-EA84-6EA4-EB3E-BB02F611E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" y="1572394"/>
            <a:ext cx="4874247" cy="194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A0932D-40A3-2268-C70D-44F52E096C6B}"/>
              </a:ext>
            </a:extLst>
          </p:cNvPr>
          <p:cNvSpPr txBox="1"/>
          <p:nvPr/>
        </p:nvSpPr>
        <p:spPr>
          <a:xfrm>
            <a:off x="2891202" y="1260296"/>
            <a:ext cx="4572000" cy="86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u="sng" strike="noStrike" dirty="0">
                <a:solidFill>
                  <a:srgbClr val="0563C1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hlinkClick r:id="rId6"/>
              </a:rPr>
              <a:t>https://www.cedarpolicy.com/</a:t>
            </a:r>
            <a:endParaRPr lang="en-US" dirty="0">
              <a:effectLst/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00160-DD12-0BFB-C1D3-E9D76D0A34D6}"/>
              </a:ext>
            </a:extLst>
          </p:cNvPr>
          <p:cNvSpPr txBox="1"/>
          <p:nvPr/>
        </p:nvSpPr>
        <p:spPr>
          <a:xfrm>
            <a:off x="5138693" y="3519649"/>
            <a:ext cx="4572000" cy="61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u="sng" strike="noStrike" dirty="0">
                <a:solidFill>
                  <a:srgbClr val="0563C1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hlinkClick r:id="rId7"/>
              </a:rPr>
              <a:t>https://github.com/cedar-policy/cedar-spec</a:t>
            </a:r>
            <a:endParaRPr lang="en-US" dirty="0">
              <a:effectLst/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1045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50091D1F-97B0-4913-8DC9-551BE8978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F24BB857-A85F-BE3B-03F4-FCE318AEDD25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4A867E98-7B8D-1C69-6F50-F1D8E1CC2A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DCB77B61-C245-AB80-CD7A-8C5CECB68E8C}"/>
              </a:ext>
            </a:extLst>
          </p:cNvPr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Cedar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0FA29B-99EF-1707-C464-3D4033951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350" y="1513736"/>
            <a:ext cx="6240502" cy="255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84D552-4B88-9F3F-A5B6-C1E6354505B6}"/>
              </a:ext>
            </a:extLst>
          </p:cNvPr>
          <p:cNvSpPr txBox="1"/>
          <p:nvPr/>
        </p:nvSpPr>
        <p:spPr>
          <a:xfrm>
            <a:off x="556250" y="4225026"/>
            <a:ext cx="83373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Takeaway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: “</a:t>
            </a:r>
            <a:r>
              <a:rPr lang="en-US" sz="1400" u="none" strike="noStrike" dirty="0">
                <a:solidFill>
                  <a:srgbClr val="333333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We’ve found Lean to be a great tool for verified software development. You get a full-featured programming language, fast proof checker and runtime, and a familiar way to build both models and proofs”</a:t>
            </a:r>
            <a:endParaRPr lang="en-US" dirty="0">
              <a:effectLst/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1314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C24FA00F-2D26-6B42-12F1-90E61F6A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745F0FF2-E89A-F393-1BB9-3F5735208601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F0E66478-2EC2-89E1-8B06-77434FDFDC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F2ABBD0B-0B8C-3B66-E216-E3C05C52D5F7}"/>
              </a:ext>
            </a:extLst>
          </p:cNvPr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Cedar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2A75E-F5C7-ED32-8AAF-2A8C59623A6C}"/>
              </a:ext>
            </a:extLst>
          </p:cNvPr>
          <p:cNvSpPr txBox="1"/>
          <p:nvPr/>
        </p:nvSpPr>
        <p:spPr>
          <a:xfrm>
            <a:off x="250450" y="1617643"/>
            <a:ext cx="83912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To learn more about Cedar: </a:t>
            </a:r>
            <a:endParaRPr lang="en-US" b="1" dirty="0">
              <a:effectLst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rtl="0">
              <a:buNone/>
            </a:pPr>
            <a:r>
              <a:rPr lang="en-US" sz="1400" u="sng" strike="noStrike" dirty="0">
                <a:solidFill>
                  <a:srgbClr val="0563C1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hlinkClick r:id="rId4"/>
              </a:rPr>
              <a:t>https://aws.amazon.com/blogs/opensource/lean-into-verified-software-development/</a:t>
            </a:r>
            <a:endParaRPr lang="en-US" dirty="0">
              <a:effectLst/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52F972D-B7B8-4E52-1A85-DA10E57C8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90" y="2335567"/>
            <a:ext cx="7843200" cy="1933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020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Differential Privacy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 mathematical framework that ensures the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privacy of individuals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in a dataset by adding controlled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random noise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to the data. 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Discrete sampling algorithms, like the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Discrete Gaussian Sampler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are used to add carefully calibrated noise to data.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What may go wrong if a buggy sampler is used?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	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Privacy Violations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: leakage of sensitive information 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	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Incorrect Results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: distorted analysis results</a:t>
            </a:r>
          </a:p>
        </p:txBody>
      </p:sp>
    </p:spTree>
    <p:extLst>
      <p:ext uri="{BB962C8B-B14F-4D97-AF65-F5344CB8AC3E}">
        <p14:creationId xmlns:p14="http://schemas.microsoft.com/office/powerpoint/2010/main" val="17434854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SampCert</a:t>
            </a:r>
            <a:endParaRPr lang="en-US" sz="2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 project led by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Jean-Baptiste Tristan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at AWS.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An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open-source</a:t>
            </a:r>
            <a:r>
              <a:rPr lang="en-US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 library of formally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verified differential privacy primitives</a:t>
            </a:r>
            <a:r>
              <a:rPr lang="en-US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Tristan's implementation is not only verified, but it is also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twice as fast as the previous one</a:t>
            </a:r>
            <a:r>
              <a:rPr lang="en-US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He managed to implement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aggressive optimizations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because Lean served as a guide, ensuring that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no bugs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were introduced.</a:t>
            </a:r>
          </a:p>
        </p:txBody>
      </p:sp>
    </p:spTree>
    <p:extLst>
      <p:ext uri="{BB962C8B-B14F-4D97-AF65-F5344CB8AC3E}">
        <p14:creationId xmlns:p14="http://schemas.microsoft.com/office/powerpoint/2010/main" val="7382819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SampCert</a:t>
            </a: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 would not exist without </a:t>
            </a:r>
            <a:r>
              <a:rPr lang="en-US" sz="22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Mathlib</a:t>
            </a:r>
            <a:endParaRPr lang="en-US" sz="2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SampCert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is software, but its verification relies heavily on </a:t>
            </a: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Mathlib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 verification of code addressing practical problems in data privacy depends on the formalization of mathematical concepts, from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 Fourier analysis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to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number theory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and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topology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08276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BC2731A4-03B9-72DC-7E7C-3A6BC087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A86DE7C5-D7C7-E5BB-BF95-90AB3314E783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7E493A64-336A-BF6B-D2E3-B05FE3190F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78D9611B-1F7B-205D-816C-7ABE727935F1}"/>
              </a:ext>
            </a:extLst>
          </p:cNvPr>
          <p:cNvSpPr txBox="1"/>
          <p:nvPr/>
        </p:nvSpPr>
        <p:spPr>
          <a:xfrm>
            <a:off x="250449" y="822850"/>
            <a:ext cx="8288243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KLR: a language and elaborators for machine learning kernels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Define a common representation for kernel functions with a precise formal semantics along with translations from common kernel languages to the KLR core language.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KLR is also open source.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9E0E81-3BFE-AD45-74E4-9B09C6DAD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49" y="2664644"/>
            <a:ext cx="7772400" cy="179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70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63174BE9-0FB3-92AB-B381-240FE4EB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9CE0CA48-D75B-94BB-8779-1CBEB69453DB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E5BBD3E9-DF36-E842-3214-4F76C67271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96225C74-DDF9-64B6-C752-30EE106B2921}"/>
              </a:ext>
            </a:extLst>
          </p:cNvPr>
          <p:cNvSpPr txBox="1"/>
          <p:nvPr/>
        </p:nvSpPr>
        <p:spPr>
          <a:xfrm>
            <a:off x="250449" y="822850"/>
            <a:ext cx="8288243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KLR: a language and elaborators for machine learning kernels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KLR uses bit-vectors, fixed integers,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FF8B41-E765-281B-1AAB-99DC61D37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61" y="2066844"/>
            <a:ext cx="6057740" cy="225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558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C0378538-FFE9-A285-F289-B1E7EA6F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4329075D-D9A3-117C-D943-EE0AE7ED503F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69F0DFCE-AD7D-E62D-404F-A167BB564E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D0B44CC7-A618-413B-116A-D9B3F158FFEB}"/>
              </a:ext>
            </a:extLst>
          </p:cNvPr>
          <p:cNvSpPr txBox="1"/>
          <p:nvPr/>
        </p:nvSpPr>
        <p:spPr>
          <a:xfrm>
            <a:off x="250449" y="822850"/>
            <a:ext cx="8288243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bv_decide</a:t>
            </a:r>
            <a:r>
              <a:rPr lang="en-US" sz="20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: another powerful move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 verified bit-blaster by </a:t>
            </a:r>
            <a:r>
              <a:rPr lang="en-US" b="1" u="none" strike="noStrike" dirty="0">
                <a:solidFill>
                  <a:srgbClr val="595959"/>
                </a:solidFill>
                <a:effectLst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Henrik Boving</a:t>
            </a:r>
            <a:r>
              <a:rPr lang="en-US" u="none" strike="noStrike" dirty="0">
                <a:solidFill>
                  <a:srgbClr val="595959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Josh Clune, Siddharth Bhat, and Alex Keizer</a:t>
            </a: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Uses LRAT proof producing SAT solvers: </a:t>
            </a:r>
            <a:r>
              <a:rPr lang="en-US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Cadical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56100FE-D3AE-BF99-6BCE-AD095B379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49" y="2665926"/>
            <a:ext cx="7175051" cy="190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2623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66DE4538-F7ED-D3E3-5B3A-B8345541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C1213CD3-177F-374A-53F4-B160579F18DC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38AA990D-CCD0-C463-AC22-5337B6671C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A3F2E1A2-C384-625B-BFD1-BB2BBF99481D}"/>
              </a:ext>
            </a:extLst>
          </p:cNvPr>
          <p:cNvSpPr txBox="1"/>
          <p:nvPr/>
        </p:nvSpPr>
        <p:spPr>
          <a:xfrm>
            <a:off x="250449" y="822850"/>
            <a:ext cx="8288243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“Blasting” </a:t>
            </a:r>
            <a:r>
              <a:rPr lang="en-US" sz="20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popcount</a:t>
            </a:r>
            <a:r>
              <a:rPr lang="en-US" sz="20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 with </a:t>
            </a:r>
            <a:r>
              <a:rPr lang="en-US" sz="20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bv_decide</a:t>
            </a:r>
            <a:endParaRPr lang="en-US" sz="20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AEADB10-A1F6-A02C-E533-1FB8DD724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30" y="1749027"/>
            <a:ext cx="4224270" cy="152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7562438-DFE2-43A8-5428-E1562E032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283" y="1749027"/>
            <a:ext cx="4113158" cy="152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74B78FDE-E698-488C-2FD5-7E783B19F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30" y="3573826"/>
            <a:ext cx="8434711" cy="91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168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75DADF9A-9C31-70E1-DB8E-B8169F77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64DC2191-02BB-409F-BC18-2983316F92E1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D4F2E466-E531-B917-EFA2-95694353FE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D6E88AC8-4B22-7326-B833-374DD5D48CC4}"/>
              </a:ext>
            </a:extLst>
          </p:cNvPr>
          <p:cNvSpPr txBox="1"/>
          <p:nvPr/>
        </p:nvSpPr>
        <p:spPr>
          <a:xfrm>
            <a:off x="366510" y="581719"/>
            <a:ext cx="8288243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“Blasting” </a:t>
            </a:r>
            <a:r>
              <a:rPr lang="en-US" sz="20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popcount</a:t>
            </a:r>
            <a:r>
              <a:rPr lang="en-US" sz="20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 with </a:t>
            </a:r>
            <a:r>
              <a:rPr lang="en-US" sz="2000" b="1" dirty="0" err="1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bv_decide</a:t>
            </a:r>
            <a:endParaRPr lang="en-US" sz="20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B5750F9-584A-E176-397B-A54607C1C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47" y="1223050"/>
            <a:ext cx="6763160" cy="3771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479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13B0A2F2-F29F-D422-9938-E50E2A65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E9D13581-A222-3B15-AF91-1C6328A7A1E1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76283A92-AEDD-99DB-01C1-321E276F0B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74AE174B-3578-A7AB-0A08-90A5E59DD2A0}"/>
              </a:ext>
            </a:extLst>
          </p:cNvPr>
          <p:cNvSpPr txBox="1"/>
          <p:nvPr/>
        </p:nvSpPr>
        <p:spPr>
          <a:xfrm>
            <a:off x="366510" y="581719"/>
            <a:ext cx="8288243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grind in Software Verification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2787C7-DC60-0A0E-C8E5-89A45A32F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47" y="1337348"/>
            <a:ext cx="4838127" cy="5308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66B4C2-64D5-1B26-4C91-73C1ED589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47" y="1967209"/>
            <a:ext cx="7772400" cy="302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603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What did we learn?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Machine-checkable proofs enable you to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code without fear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Powerful proof automation.</a:t>
            </a: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Industrial projects: Verified compilers, policy languages, cryptographic libraries, etc.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Many more at the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Project Registry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: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4"/>
              </a:rPr>
              <a:t>https://reservoir.lean-lang.org/</a:t>
            </a: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2" name="Picture 1">
            <a:hlinkClick r:id="rId5"/>
            <a:extLst>
              <a:ext uri="{FF2B5EF4-FFF2-40B4-BE49-F238E27FC236}">
                <a16:creationId xmlns:a16="http://schemas.microsoft.com/office/drawing/2014/main" id="{F08727A9-C42A-F33A-6750-90787B6DA2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008" y="3057093"/>
            <a:ext cx="6535132" cy="193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646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-20625" y="829400"/>
            <a:ext cx="9167400" cy="4311300"/>
          </a:xfrm>
          <a:prstGeom prst="rect">
            <a:avLst/>
          </a:prstGeom>
          <a:solidFill>
            <a:srgbClr val="007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9" name="Google Shape;79;p16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124207" y="2248600"/>
            <a:ext cx="887773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 SemiBold"/>
              </a:rPr>
              <a:t>AI</a:t>
            </a:r>
            <a:endParaRPr sz="1600" b="1" dirty="0">
              <a:solidFill>
                <a:schemeClr val="lt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1762929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Enables </a:t>
            </a:r>
            <a:r>
              <a:rPr lang="en-US" sz="2200" b="1" dirty="0">
                <a:solidFill>
                  <a:srgbClr val="FF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Verified</a:t>
            </a: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 AI for Mathematics and Code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LLMs are powerful tools, but they are prone to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hallucinations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In Math, a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small mistake can invalidate the whole proof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Imagine manually checking an AI-generated proof with the size and complexity of FLT.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	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 informal proof is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over 200 pages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  <a:endParaRPr lang="en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>
              <a:lnSpc>
                <a:spcPct val="150000"/>
              </a:lnSpc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	Buzzard estimates a formal proof will require more than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1M LoC 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on top of </a:t>
            </a:r>
            <a:r>
              <a:rPr lang="en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Mathlib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Machine-checkable proofs are the antidote to hallucinations.</a:t>
            </a:r>
            <a:endParaRPr lang="en-US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21548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49" y="822850"/>
            <a:ext cx="8732683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AI Proof Assistants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Several groups are developing AI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that suggests the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next move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(s) in Lean’s interactive proof game.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4"/>
              </a:rPr>
              <a:t>LeanDojo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is an open-source project from Caltech, and everything (model, datasets, code) is open.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5"/>
              </a:rPr>
              <a:t>OpenAI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and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6"/>
              </a:rPr>
              <a:t>Meta AI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have also developed AI assistants for Lean.</a:t>
            </a:r>
            <a:endParaRPr lang="en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6196944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927C71-600F-2220-49A3-0EB35068C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115" y="379066"/>
            <a:ext cx="4669885" cy="468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225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What did we learn?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Machine-checkable proofs enable </a:t>
            </a:r>
            <a:r>
              <a:rPr lang="en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AI that does not hallucinate</a:t>
            </a: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LLMs are getting better and better at explaining Lean code.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In an era of big data and LLMs, machine-checkable proofs ensure trust in results.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AI systems that prove rather than guess.</a:t>
            </a:r>
          </a:p>
        </p:txBody>
      </p:sp>
    </p:spTree>
    <p:extLst>
      <p:ext uri="{BB962C8B-B14F-4D97-AF65-F5344CB8AC3E}">
        <p14:creationId xmlns:p14="http://schemas.microsoft.com/office/powerpoint/2010/main" val="39519686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-20625" y="829400"/>
            <a:ext cx="9167400" cy="4311300"/>
          </a:xfrm>
          <a:prstGeom prst="rect">
            <a:avLst/>
          </a:prstGeom>
          <a:solidFill>
            <a:srgbClr val="007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9" name="Google Shape;79;p16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2390404" y="2248600"/>
            <a:ext cx="4363192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 SemiBold"/>
              </a:rPr>
              <a:t>Before we wrap up...</a:t>
            </a:r>
            <a:endParaRPr sz="1600" b="1" dirty="0">
              <a:solidFill>
                <a:schemeClr val="lt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533448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7843200" cy="61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Enables Decentralized Collaboration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</p:txBody>
      </p:sp>
      <p:sp>
        <p:nvSpPr>
          <p:cNvPr id="10" name="Google Shape;95;p18">
            <a:extLst>
              <a:ext uri="{FF2B5EF4-FFF2-40B4-BE49-F238E27FC236}">
                <a16:creationId xmlns:a16="http://schemas.microsoft.com/office/drawing/2014/main" id="{AA3363DA-0058-A2F6-2705-375F51E383C3}"/>
              </a:ext>
            </a:extLst>
          </p:cNvPr>
          <p:cNvSpPr txBox="1"/>
          <p:nvPr/>
        </p:nvSpPr>
        <p:spPr>
          <a:xfrm>
            <a:off x="445183" y="1591725"/>
            <a:ext cx="4826000" cy="240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3A3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is Extensible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Users extend Lean using Lean itself.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is implemented in Lean.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You can make it your own.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You can create your own moves.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rgbClr val="1F232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Google Shape;95;p18">
            <a:extLst>
              <a:ext uri="{FF2B5EF4-FFF2-40B4-BE49-F238E27FC236}">
                <a16:creationId xmlns:a16="http://schemas.microsoft.com/office/drawing/2014/main" id="{76A81CDB-C180-88EF-17E0-D780465F976B}"/>
              </a:ext>
            </a:extLst>
          </p:cNvPr>
          <p:cNvSpPr txBox="1"/>
          <p:nvPr/>
        </p:nvSpPr>
        <p:spPr>
          <a:xfrm>
            <a:off x="4572000" y="1591725"/>
            <a:ext cx="4216666" cy="194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3A3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Machine-Checkable Proofs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You don’t need to trust me to use my proofs.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You don’t need to trust my automation to use it.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Code without fear.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rgbClr val="1F232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3596800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49" y="822850"/>
            <a:ext cx="8542615" cy="61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is a game where we can implement your own moves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3D6243-5B56-09DB-12DA-BCE133D04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42" y="1743826"/>
            <a:ext cx="8391423" cy="2194885"/>
          </a:xfrm>
          <a:prstGeom prst="rect">
            <a:avLst/>
          </a:prstGeom>
        </p:spPr>
      </p:pic>
      <p:sp>
        <p:nvSpPr>
          <p:cNvPr id="3" name="Line Callout 1 2">
            <a:extLst>
              <a:ext uri="{FF2B5EF4-FFF2-40B4-BE49-F238E27FC236}">
                <a16:creationId xmlns:a16="http://schemas.microsoft.com/office/drawing/2014/main" id="{A787183C-8444-9B58-9969-0A63D67B9D0D}"/>
              </a:ext>
            </a:extLst>
          </p:cNvPr>
          <p:cNvSpPr/>
          <p:nvPr/>
        </p:nvSpPr>
        <p:spPr>
          <a:xfrm>
            <a:off x="1932330" y="4110762"/>
            <a:ext cx="6404970" cy="368755"/>
          </a:xfrm>
          <a:prstGeom prst="borderCallout1">
            <a:avLst>
              <a:gd name="adj1" fmla="val 51449"/>
              <a:gd name="adj2" fmla="val -1070"/>
              <a:gd name="adj3" fmla="val -127155"/>
              <a:gd name="adj4" fmla="val -10029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</a:t>
            </a:r>
            <a:r>
              <a:rPr lang="en-US" dirty="0" err="1">
                <a:latin typeface="Courier New" panose="02070309020205020404" pitchFamily="49" charset="0"/>
                <a:ea typeface="Amazon Ember" panose="020B0603020204020204" pitchFamily="34" charset="0"/>
                <a:cs typeface="Courier New" panose="02070309020205020404" pitchFamily="49" charset="0"/>
              </a:rPr>
              <a:t>linarith</a:t>
            </a: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“move” was implemented by the </a:t>
            </a:r>
            <a:r>
              <a:rPr lang="en-US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Mathlib</a:t>
            </a: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community in Lean!</a:t>
            </a:r>
          </a:p>
        </p:txBody>
      </p:sp>
    </p:spTree>
    <p:extLst>
      <p:ext uri="{BB962C8B-B14F-4D97-AF65-F5344CB8AC3E}">
        <p14:creationId xmlns:p14="http://schemas.microsoft.com/office/powerpoint/2010/main" val="26921622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673A7512-9B1A-E3E8-A57D-445A72717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62F36185-6BC5-A492-0B2F-EC520D8865B1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7482F8A3-8DB0-5096-CE84-62591C7B614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3C069B68-8C74-5BF3-AA30-F22B0B742AB6}"/>
              </a:ext>
            </a:extLst>
          </p:cNvPr>
          <p:cNvSpPr txBox="1"/>
          <p:nvPr/>
        </p:nvSpPr>
        <p:spPr>
          <a:xfrm>
            <a:off x="250449" y="822850"/>
            <a:ext cx="8542615" cy="61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is a game where we can implement your own moves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7B520D-D5F6-8CD4-2ED8-BCA7400E3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42" y="1743826"/>
            <a:ext cx="8391423" cy="2194885"/>
          </a:xfrm>
          <a:prstGeom prst="rect">
            <a:avLst/>
          </a:prstGeom>
        </p:spPr>
      </p:pic>
      <p:sp>
        <p:nvSpPr>
          <p:cNvPr id="3" name="Line Callout 1 2">
            <a:extLst>
              <a:ext uri="{FF2B5EF4-FFF2-40B4-BE49-F238E27FC236}">
                <a16:creationId xmlns:a16="http://schemas.microsoft.com/office/drawing/2014/main" id="{6E935D7D-877A-5BEA-ADC8-EB406CC4FC2C}"/>
              </a:ext>
            </a:extLst>
          </p:cNvPr>
          <p:cNvSpPr/>
          <p:nvPr/>
        </p:nvSpPr>
        <p:spPr>
          <a:xfrm>
            <a:off x="1932330" y="4110762"/>
            <a:ext cx="6404970" cy="368755"/>
          </a:xfrm>
          <a:prstGeom prst="borderCallout1">
            <a:avLst>
              <a:gd name="adj1" fmla="val 51449"/>
              <a:gd name="adj2" fmla="val -1070"/>
              <a:gd name="adj3" fmla="val -127155"/>
              <a:gd name="adj4" fmla="val -10029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</a:t>
            </a:r>
            <a:r>
              <a:rPr lang="en-US" dirty="0" err="1">
                <a:latin typeface="Courier New" panose="02070309020205020404" pitchFamily="49" charset="0"/>
                <a:ea typeface="Amazon Ember" panose="020B0603020204020204" pitchFamily="34" charset="0"/>
                <a:cs typeface="Courier New" panose="02070309020205020404" pitchFamily="49" charset="0"/>
              </a:rPr>
              <a:t>linarith</a:t>
            </a: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“move” was implemented by the </a:t>
            </a:r>
            <a:r>
              <a:rPr lang="en-US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Mathlib</a:t>
            </a: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community in Lean!</a:t>
            </a:r>
          </a:p>
        </p:txBody>
      </p:sp>
      <p:sp>
        <p:nvSpPr>
          <p:cNvPr id="4" name="Line Callout 1 3">
            <a:extLst>
              <a:ext uri="{FF2B5EF4-FFF2-40B4-BE49-F238E27FC236}">
                <a16:creationId xmlns:a16="http://schemas.microsoft.com/office/drawing/2014/main" id="{EDCAB20F-9782-19BC-AB23-0B140C24CC2B}"/>
              </a:ext>
            </a:extLst>
          </p:cNvPr>
          <p:cNvSpPr/>
          <p:nvPr/>
        </p:nvSpPr>
        <p:spPr>
          <a:xfrm>
            <a:off x="1932330" y="4651568"/>
            <a:ext cx="6404970" cy="368755"/>
          </a:xfrm>
          <a:prstGeom prst="borderCallout1">
            <a:avLst>
              <a:gd name="adj1" fmla="val 58637"/>
              <a:gd name="adj2" fmla="val 7620"/>
              <a:gd name="adj3" fmla="val 63314"/>
              <a:gd name="adj4" fmla="val 3627"/>
            </a:avLst>
          </a:prstGeom>
          <a:solidFill>
            <a:srgbClr val="0073A3"/>
          </a:solidFill>
          <a:ln>
            <a:solidFill>
              <a:srgbClr val="007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</a:t>
            </a:r>
            <a:r>
              <a:rPr lang="en-US" dirty="0" err="1">
                <a:latin typeface="Courier New" panose="02070309020205020404" pitchFamily="49" charset="0"/>
                <a:ea typeface="Amazon Ember" panose="020B0603020204020204" pitchFamily="34" charset="0"/>
                <a:cs typeface="Courier New" panose="02070309020205020404" pitchFamily="49" charset="0"/>
              </a:rPr>
              <a:t>bv_decide</a:t>
            </a: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ea typeface="Amazon Ember" panose="020B0603020204020204" pitchFamily="34" charset="0"/>
                <a:cs typeface="Courier New" panose="02070309020205020404" pitchFamily="49" charset="0"/>
              </a:rPr>
              <a:t>grind </a:t>
            </a: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“moves” are also implemented in Lean!</a:t>
            </a:r>
          </a:p>
        </p:txBody>
      </p:sp>
    </p:spTree>
    <p:extLst>
      <p:ext uri="{BB962C8B-B14F-4D97-AF65-F5344CB8AC3E}">
        <p14:creationId xmlns:p14="http://schemas.microsoft.com/office/powerpoint/2010/main" val="41796616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49" y="831317"/>
            <a:ext cx="8542615" cy="3190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You can use Lean to introspect its internal data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 tool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5"/>
              </a:rPr>
              <a:t>lean-training-data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is implemented in Lean itself.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It is a Lean package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 similar approach can be used to automatically generate proof animations.</a:t>
            </a:r>
            <a:endParaRPr lang="en-US" sz="1200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4" name="Online Media 3" descr="Tactics &amp; Keyframes: Visualizing Lean 4 Proofs in Blender">
            <a:hlinkClick r:id="" action="ppaction://media"/>
            <a:extLst>
              <a:ext uri="{FF2B5EF4-FFF2-40B4-BE49-F238E27FC236}">
                <a16:creationId xmlns:a16="http://schemas.microsoft.com/office/drawing/2014/main" id="{A9E2A3E2-F9A9-1772-DF93-E72DB0D7D90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4572000" y="2571750"/>
            <a:ext cx="4572000" cy="258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6640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50" y="822850"/>
            <a:ext cx="874115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FRO: Shaping the Future of Lean Development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 Lean Focused Research Organization (FRO) is a non-profit dedicated to Lean’s development.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Founded in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August 2023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the organization has 19 members.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Its mission is to enhance critical areas: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scalability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usability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documentation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and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proof automation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It must reach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self-sustainability in August 2028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and become the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Foundation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Philanthropic support is gratefully acknowledged from the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Simons Foundation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the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Alfred P. Sloan Foundation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Richard Merkin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and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Alex Gerko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19357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2E75824C-ACAD-D85C-51C3-77C3C18A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4E1998FF-60E6-CB71-FF93-94E116349DBB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49204A66-EDF9-4023-E5B0-87700C0768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25F3614C-751F-21BE-B811-F8043E1E79EF}"/>
              </a:ext>
            </a:extLst>
          </p:cNvPr>
          <p:cNvSpPr txBox="1"/>
          <p:nvPr/>
        </p:nvSpPr>
        <p:spPr>
          <a:xfrm>
            <a:off x="250450" y="822850"/>
            <a:ext cx="874115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FROs accelerate scientific progress / Lean as a Catalyst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James Webb Telescope and CERN illustrate a common pattern in science: a need for projects that are bigger than an academic lab can undertake, more coordinated than a loose consortium or themed department, and not directly profitable enough to be a venture-backed startup or industrial R&amp;D project.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https://www.convergentresearch.org/about-fros</a:t>
            </a: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" dirty="0">
              <a:solidFill>
                <a:srgbClr val="1F232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32" name="Picture 8" descr="The James Webb Space Telescope has captured images of ancient galaxies that  shouldn't exist. A cosmologist explains what could be going on. - BBC  Science Focus Magazine">
            <a:extLst>
              <a:ext uri="{FF2B5EF4-FFF2-40B4-BE49-F238E27FC236}">
                <a16:creationId xmlns:a16="http://schemas.microsoft.com/office/drawing/2014/main" id="{3ECBD939-0E65-2C02-A150-F8C8A853B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468" y="3277191"/>
            <a:ext cx="2298916" cy="15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e history of CERN | timeline.web.cern.ch">
            <a:extLst>
              <a:ext uri="{FF2B5EF4-FFF2-40B4-BE49-F238E27FC236}">
                <a16:creationId xmlns:a16="http://schemas.microsoft.com/office/drawing/2014/main" id="{27EC0EB2-62B9-D45E-A60C-E9F728093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469" y="3277191"/>
            <a:ext cx="2373075" cy="15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2048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B2C7B4B6-F07E-80D2-EBCC-DB39F80E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ED6708E1-352D-A9E1-25C4-E050F6E0A880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2FC5DF19-644C-F5EA-58C6-3779258899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53167D7E-9B8F-CE70-DCE3-DA7E5B6BB86B}"/>
              </a:ext>
            </a:extLst>
          </p:cNvPr>
          <p:cNvSpPr txBox="1"/>
          <p:nvPr/>
        </p:nvSpPr>
        <p:spPr>
          <a:xfrm>
            <a:off x="250450" y="822850"/>
            <a:ext cx="874115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Lean FRO: by numbers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19 releases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and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4,047 pull requests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merged in the main repository only since its launch in July 2023. 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Public roadmaps: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4"/>
              </a:rPr>
              <a:t>https://lean-fro.org/about/roadmap-y2/</a:t>
            </a: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 project was featured in multiple venues NY Times, Quanta, Scientific American, etc.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D918AAD-7AD0-19A0-E2A2-08B346C704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" b="55831"/>
          <a:stretch/>
        </p:blipFill>
        <p:spPr bwMode="auto">
          <a:xfrm>
            <a:off x="527542" y="3552826"/>
            <a:ext cx="4298982" cy="1406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FA096083-8324-A1D6-1AF0-C712D8908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363" y="3552826"/>
            <a:ext cx="2251810" cy="153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2989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03C6346D-89C3-AF3D-0A16-A17DC8827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14ADFAD2-868D-2A23-30D0-6358778CB791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9B7D7680-6B42-1A29-509F-858778B32F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14D411CF-FC41-6D5D-00C4-ED7141E2A44C}"/>
              </a:ext>
            </a:extLst>
          </p:cNvPr>
          <p:cNvSpPr txBox="1"/>
          <p:nvPr/>
        </p:nvSpPr>
        <p:spPr>
          <a:xfrm>
            <a:off x="250450" y="673851"/>
            <a:ext cx="874115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Growth of Lean projects on GitHub</a:t>
            </a:r>
            <a:endParaRPr sz="2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" dirty="0">
              <a:solidFill>
                <a:srgbClr val="1F232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BCFBC0E-6696-7E13-A69F-E52FB87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54"/>
          <a:stretch/>
        </p:blipFill>
        <p:spPr bwMode="auto">
          <a:xfrm>
            <a:off x="250450" y="1524000"/>
            <a:ext cx="6502400" cy="36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9E8B5DC-C2F1-46DD-B39F-BB07EC70FAC9}"/>
              </a:ext>
            </a:extLst>
          </p:cNvPr>
          <p:cNvSpPr/>
          <p:nvPr/>
        </p:nvSpPr>
        <p:spPr>
          <a:xfrm>
            <a:off x="2783562" y="2507869"/>
            <a:ext cx="1022888" cy="4752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Lean FRO</a:t>
            </a:r>
          </a:p>
          <a:p>
            <a:pPr algn="ctr"/>
            <a:r>
              <a:rPr lang="en-US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launched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A97887-0C43-4C8D-733F-93730385F866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806450" y="2745510"/>
            <a:ext cx="553740" cy="421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5188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DCCFF01D-7127-79FC-A70B-4DDD9EE38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>
            <a:extLst>
              <a:ext uri="{FF2B5EF4-FFF2-40B4-BE49-F238E27FC236}">
                <a16:creationId xmlns:a16="http://schemas.microsoft.com/office/drawing/2014/main" id="{20129066-6FEF-EC23-060E-F4C8BE08ACA5}"/>
              </a:ext>
            </a:extLst>
          </p:cNvPr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>
            <a:extLst>
              <a:ext uri="{FF2B5EF4-FFF2-40B4-BE49-F238E27FC236}">
                <a16:creationId xmlns:a16="http://schemas.microsoft.com/office/drawing/2014/main" id="{CF1371A2-EB9E-F6DF-4AC9-FDBAE9BADE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7DB1F8C0-9DAF-8014-88FC-3D4839348748}"/>
              </a:ext>
            </a:extLst>
          </p:cNvPr>
          <p:cNvSpPr txBox="1"/>
          <p:nvPr/>
        </p:nvSpPr>
        <p:spPr>
          <a:xfrm>
            <a:off x="250450" y="595541"/>
            <a:ext cx="874115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New installations of Lean Development Environment (2024 to present)</a:t>
            </a:r>
            <a:endParaRPr sz="18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" dirty="0">
              <a:solidFill>
                <a:srgbClr val="1F232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18F3221-71FC-E9BA-C765-606EDE9C52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8"/>
          <a:stretch/>
        </p:blipFill>
        <p:spPr bwMode="auto">
          <a:xfrm>
            <a:off x="152400" y="1384515"/>
            <a:ext cx="6139912" cy="375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7781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49" y="822850"/>
            <a:ext cx="8698817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How can I contribute?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Help building </a:t>
            </a: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4"/>
              </a:rPr>
              <a:t>Mathlib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Want to engage with the vibrant Lean community? Join our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5"/>
              </a:rPr>
              <a:t>Zulip channel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 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Interested in ML kernels? Contribute to the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6"/>
              </a:rPr>
              <a:t>KLR project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Want to contribute to a large formalization project? Join the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7"/>
              </a:rPr>
              <a:t>FLT formalization project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Start your own open-source Lean project! Your package will be available on our registry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8"/>
              </a:rPr>
              <a:t>Reservoir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Start using Lean online: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  <a:hlinkClick r:id="rId9"/>
              </a:rPr>
              <a:t>live.lean-lang.org</a:t>
            </a:r>
            <a:endParaRPr lang="en-US" dirty="0">
              <a:solidFill>
                <a:srgbClr val="1F2328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Support the Lean FRO: Funding, partnerships, or simply advocating the project.</a:t>
            </a:r>
          </a:p>
        </p:txBody>
      </p:sp>
    </p:spTree>
    <p:extLst>
      <p:ext uri="{BB962C8B-B14F-4D97-AF65-F5344CB8AC3E}">
        <p14:creationId xmlns:p14="http://schemas.microsoft.com/office/powerpoint/2010/main" val="40871269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8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50449" y="822850"/>
            <a:ext cx="8698817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Conclusion</a:t>
            </a:r>
            <a:endParaRPr sz="1200" b="1" dirty="0">
              <a:solidFill>
                <a:srgbClr val="1F2328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 is an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efficient programming language 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and </a:t>
            </a:r>
            <a:r>
              <a:rPr lang="en-US" b="1" dirty="0">
                <a:solidFill>
                  <a:srgbClr val="1F2328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proof assistant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 </a:t>
            </a:r>
            <a:r>
              <a:rPr lang="en-US" dirty="0" err="1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Mathlib</a:t>
            </a:r>
            <a:r>
              <a:rPr lang="en-US" dirty="0">
                <a:solidFill>
                  <a:srgbClr val="1F2328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 community is changing how math is done.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It is not just about proving but also understanding complex objects and proofs, getting new insights, and navigating through the “thick jungles” that are </a:t>
            </a:r>
            <a:r>
              <a:rPr lang="en-US" b="1" dirty="0">
                <a:solidFill>
                  <a:srgbClr val="0073A3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"/>
              </a:rPr>
              <a:t>beyond our cognitive abilities</a:t>
            </a:r>
            <a:r>
              <a:rPr lang="en-US" dirty="0">
                <a:solidFill>
                  <a:srgbClr val="0073A3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. 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 tracks details, so humans focus on big ideas.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Decentralized collaboration with Lean: Large teams can collectively tackle huge proofs without losing track.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The entire discipline thrives when no one has to “take it on faith.”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dirty="0">
              <a:solidFill>
                <a:schemeClr val="tx1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7543B1-54C2-4340-6B13-7C97027D0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613" y="683428"/>
            <a:ext cx="1838345" cy="176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876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-20625" y="829400"/>
            <a:ext cx="9167400" cy="4311300"/>
          </a:xfrm>
          <a:prstGeom prst="rect">
            <a:avLst/>
          </a:prstGeom>
          <a:solidFill>
            <a:srgbClr val="007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0" name="Google Shape;150;p19"/>
          <p:cNvCxnSpPr>
            <a:cxnSpLocks/>
          </p:cNvCxnSpPr>
          <p:nvPr/>
        </p:nvCxnSpPr>
        <p:spPr>
          <a:xfrm rot="10800000">
            <a:off x="806700" y="333699"/>
            <a:ext cx="7530600" cy="0"/>
          </a:xfrm>
          <a:prstGeom prst="straightConnector1">
            <a:avLst/>
          </a:prstGeom>
          <a:noFill/>
          <a:ln w="9525" cap="flat" cmpd="sng">
            <a:solidFill>
              <a:srgbClr val="0073A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85" y="149049"/>
            <a:ext cx="87996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41;p20">
            <a:extLst>
              <a:ext uri="{FF2B5EF4-FFF2-40B4-BE49-F238E27FC236}">
                <a16:creationId xmlns:a16="http://schemas.microsoft.com/office/drawing/2014/main" id="{CDB4C31F-1D4A-1C6C-D550-32332ADF7DF7}"/>
              </a:ext>
            </a:extLst>
          </p:cNvPr>
          <p:cNvSpPr txBox="1"/>
          <p:nvPr/>
        </p:nvSpPr>
        <p:spPr>
          <a:xfrm>
            <a:off x="658152" y="1666000"/>
            <a:ext cx="2782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l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Inter SemiBold"/>
              </a:rPr>
              <a:t>Thank You</a:t>
            </a:r>
            <a:endParaRPr sz="3000" b="1" dirty="0">
              <a:solidFill>
                <a:schemeClr val="lt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Inter SemiBold"/>
            </a:endParaRPr>
          </a:p>
        </p:txBody>
      </p:sp>
      <p:sp>
        <p:nvSpPr>
          <p:cNvPr id="3" name="Google Shape;142;p20">
            <a:extLst>
              <a:ext uri="{FF2B5EF4-FFF2-40B4-BE49-F238E27FC236}">
                <a16:creationId xmlns:a16="http://schemas.microsoft.com/office/drawing/2014/main" id="{38DE4ADA-63F1-E29F-6A95-0A2F0FB53C02}"/>
              </a:ext>
            </a:extLst>
          </p:cNvPr>
          <p:cNvSpPr txBox="1"/>
          <p:nvPr/>
        </p:nvSpPr>
        <p:spPr>
          <a:xfrm>
            <a:off x="709176" y="2462837"/>
            <a:ext cx="4542237" cy="180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https://</a:t>
            </a:r>
            <a:r>
              <a:rPr lang="en-US" sz="1500" dirty="0" err="1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leanprover.zulipchat.com</a:t>
            </a:r>
            <a:r>
              <a:rPr lang="en-US" sz="15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/</a:t>
            </a:r>
            <a:endParaRPr lang="en" sz="1500" dirty="0">
              <a:solidFill>
                <a:srgbClr val="FFFFFF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x: @</a:t>
            </a:r>
            <a:r>
              <a:rPr lang="en" sz="1500" dirty="0" err="1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leanprover</a:t>
            </a:r>
            <a:endParaRPr sz="1500" dirty="0">
              <a:solidFill>
                <a:srgbClr val="FFFFFF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LinkedIn: Lean FRO</a:t>
            </a:r>
            <a:endParaRPr sz="1500" dirty="0">
              <a:solidFill>
                <a:srgbClr val="FFFFFF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Mastodon: @</a:t>
            </a:r>
            <a:r>
              <a:rPr lang="en" sz="1500" dirty="0" err="1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leanprover@functional.cafe</a:t>
            </a:r>
            <a:endParaRPr sz="1500" dirty="0">
              <a:solidFill>
                <a:srgbClr val="FFFFFF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#</a:t>
            </a:r>
            <a:r>
              <a:rPr lang="en" sz="1500" dirty="0" err="1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leanlang</a:t>
            </a:r>
            <a:r>
              <a:rPr lang="en" sz="15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, #</a:t>
            </a:r>
            <a:r>
              <a:rPr lang="en" sz="1500" dirty="0" err="1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leanprover</a:t>
            </a:r>
            <a:endParaRPr sz="1500" dirty="0">
              <a:solidFill>
                <a:srgbClr val="FFFFFF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FFFF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https://</a:t>
            </a:r>
            <a:r>
              <a:rPr lang="en" sz="1500" dirty="0" err="1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www.lean-lang.org</a:t>
            </a:r>
            <a:r>
              <a:rPr lang="en" sz="1500" dirty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  <a:sym typeface="Inter"/>
              </a:rPr>
              <a:t>/</a:t>
            </a:r>
            <a:endParaRPr sz="1500" dirty="0">
              <a:solidFill>
                <a:srgbClr val="FFFFFF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  <a:sym typeface="Int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CA466-7D8B-1D29-52E3-BCA27F93F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413" y="1246300"/>
            <a:ext cx="3464240" cy="347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33536</TotalTime>
  <Words>2461</Words>
  <Application>Microsoft Macintosh PowerPoint</Application>
  <PresentationFormat>On-screen Show (16:9)</PresentationFormat>
  <Paragraphs>230</Paragraphs>
  <Slides>67</Slides>
  <Notes>67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Arial</vt:lpstr>
      <vt:lpstr>Amazon Ember Light</vt:lpstr>
      <vt:lpstr>Inter</vt:lpstr>
      <vt:lpstr>Archivo</vt:lpstr>
      <vt:lpstr>Amazon Ember</vt:lpstr>
      <vt:lpstr>Courier New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 Moura, Leo</cp:lastModifiedBy>
  <cp:revision>47</cp:revision>
  <dcterms:modified xsi:type="dcterms:W3CDTF">2025-05-04T17:34:57Z</dcterms:modified>
</cp:coreProperties>
</file>